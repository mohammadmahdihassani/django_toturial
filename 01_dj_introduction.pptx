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77" r:id="rId6"/>
    <p:sldId id="316" r:id="rId7"/>
    <p:sldId id="290" r:id="rId8"/>
    <p:sldId id="268" r:id="rId9"/>
    <p:sldId id="317" r:id="rId10"/>
    <p:sldId id="293" r:id="rId11"/>
    <p:sldId id="294" r:id="rId12"/>
    <p:sldId id="31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4" autoAdjust="0"/>
    <p:restoredTop sz="93204" autoAdjust="0"/>
  </p:normalViewPr>
  <p:slideViewPr>
    <p:cSldViewPr snapToGrid="0">
      <p:cViewPr varScale="1">
        <p:scale>
          <a:sx n="105" d="100"/>
          <a:sy n="105" d="100"/>
        </p:scale>
        <p:origin x="738" y="108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456"/>
    </p:cViewPr>
  </p:sorterViewPr>
  <p:notesViewPr>
    <p:cSldViewPr snapToGrid="0" showGuides="1">
      <p:cViewPr varScale="1">
        <p:scale>
          <a:sx n="86" d="100"/>
          <a:sy n="86" d="100"/>
        </p:scale>
        <p:origin x="97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4/25/2025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4/25/2025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665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7128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336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a-IR" dirty="0"/>
              <a:t>هر چه عمق لایه ها بیشتر باشد یادگیری بهتر انجام </a:t>
            </a:r>
            <a:r>
              <a:rPr lang="fa-IR" dirty="0" err="1"/>
              <a:t>می‌شود</a:t>
            </a:r>
            <a:r>
              <a:rPr lang="fa-IR" dirty="0"/>
              <a:t> و اصطلاحا یادگیری عمیق رخ </a:t>
            </a:r>
            <a:r>
              <a:rPr lang="fa-IR" dirty="0" err="1"/>
              <a:t>می‌دهد</a:t>
            </a:r>
            <a:r>
              <a:rPr lang="fa-I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549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765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hammadMahdiHassani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image" Target="../media/image30.png"/><Relationship Id="rId4" Type="http://schemas.openxmlformats.org/officeDocument/2006/relationships/hyperlink" Target="https://zitype.ir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42204" y="1597202"/>
            <a:ext cx="6856292" cy="1817922"/>
          </a:xfrm>
        </p:spPr>
        <p:txBody>
          <a:bodyPr>
            <a:normAutofit/>
          </a:bodyPr>
          <a:lstStyle/>
          <a:p>
            <a:pPr algn="r" rtl="1"/>
            <a:r>
              <a:rPr lang="fa-IR" sz="4800" dirty="0">
                <a:cs typeface="B Titr" panose="00000700000000000000" pitchFamily="2" charset="-78"/>
              </a:rPr>
              <a:t>آموزش </a:t>
            </a:r>
            <a:r>
              <a:rPr lang="en-US" sz="4800" dirty="0" err="1">
                <a:cs typeface="B Titr" panose="00000700000000000000" pitchFamily="2" charset="-78"/>
              </a:rPr>
              <a:t>DJango</a:t>
            </a:r>
            <a:endParaRPr lang="en-US" sz="4800" dirty="0">
              <a:cs typeface="B Titr" panose="00000700000000000000" pitchFamily="2" charset="-78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98ABDDA-6D8C-4C1A-BFF5-2CCCDAF45D32}"/>
              </a:ext>
            </a:extLst>
          </p:cNvPr>
          <p:cNvSpPr txBox="1">
            <a:spLocks/>
          </p:cNvSpPr>
          <p:nvPr/>
        </p:nvSpPr>
        <p:spPr>
          <a:xfrm>
            <a:off x="2297708" y="262128"/>
            <a:ext cx="6856292" cy="9083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1"/>
            <a:r>
              <a:rPr lang="fa-IR" sz="4200" dirty="0">
                <a:cs typeface="B Titr" panose="00000700000000000000" pitchFamily="2" charset="-78"/>
              </a:rPr>
              <a:t>به نام خدا</a:t>
            </a:r>
            <a:endParaRPr lang="en-US" sz="4200" dirty="0">
              <a:cs typeface="B Titr" panose="000007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3784D9-3E3C-4B8F-B868-9EB12FFD8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6856" y="0"/>
            <a:ext cx="1715144" cy="174064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B5BCB96-862A-496D-A429-D1920BE8DF0D}"/>
              </a:ext>
            </a:extLst>
          </p:cNvPr>
          <p:cNvSpPr txBox="1">
            <a:spLocks/>
          </p:cNvSpPr>
          <p:nvPr/>
        </p:nvSpPr>
        <p:spPr>
          <a:xfrm>
            <a:off x="7162800" y="4610084"/>
            <a:ext cx="4435696" cy="8044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/>
            <a:r>
              <a:rPr lang="fa-IR" sz="2400" dirty="0">
                <a:cs typeface="B Titr" panose="00000700000000000000" pitchFamily="2" charset="-78"/>
              </a:rPr>
              <a:t>ارائه دهنده: محمدمهدی حسنی</a:t>
            </a:r>
            <a:endParaRPr lang="en-US" sz="2400" dirty="0">
              <a:cs typeface="B Titr" panose="00000700000000000000" pitchFamily="2" charset="-78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E4C02C-6215-44CF-8097-E97D2ED6800E}"/>
              </a:ext>
            </a:extLst>
          </p:cNvPr>
          <p:cNvSpPr txBox="1">
            <a:spLocks/>
          </p:cNvSpPr>
          <p:nvPr/>
        </p:nvSpPr>
        <p:spPr>
          <a:xfrm>
            <a:off x="9345168" y="5272902"/>
            <a:ext cx="1637390" cy="8044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/>
            <a:r>
              <a:rPr lang="fa-IR" sz="2400" dirty="0">
                <a:cs typeface="B Titr" panose="00000700000000000000" pitchFamily="2" charset="-78"/>
              </a:rPr>
              <a:t>بهار 1404</a:t>
            </a:r>
            <a:endParaRPr lang="en-US" sz="2400" dirty="0">
              <a:cs typeface="B Titr" panose="00000700000000000000" pitchFamily="2" charset="-78"/>
            </a:endParaRPr>
          </a:p>
        </p:txBody>
      </p:sp>
      <p:pic>
        <p:nvPicPr>
          <p:cNvPr id="1026" name="Picture 2" descr="Python - Wikiversity">
            <a:extLst>
              <a:ext uri="{FF2B5EF4-FFF2-40B4-BE49-F238E27FC236}">
                <a16:creationId xmlns:a16="http://schemas.microsoft.com/office/drawing/2014/main" id="{E8BA780D-3DB4-4155-9CE4-C78C149CD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098" y="3049505"/>
            <a:ext cx="1926198" cy="1926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‪A Beginner's Guide to Getting Started With Django‬‏">
            <a:extLst>
              <a:ext uri="{FF2B5EF4-FFF2-40B4-BE49-F238E27FC236}">
                <a16:creationId xmlns:a16="http://schemas.microsoft.com/office/drawing/2014/main" id="{8BB28611-9CC4-47F9-BFAB-F544C9906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2227" y="3095609"/>
            <a:ext cx="2807161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075995"/>
          </a:xfrm>
        </p:spPr>
        <p:txBody>
          <a:bodyPr>
            <a:normAutofit/>
          </a:bodyPr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فهرست</a:t>
            </a:r>
            <a:endParaRPr lang="en-ZA" dirty="0">
              <a:cs typeface="B Titr" panose="00000700000000000000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3950" y="2632901"/>
            <a:ext cx="6338887" cy="576643"/>
          </a:xfrm>
        </p:spPr>
        <p:txBody>
          <a:bodyPr>
            <a:normAutofit lnSpcReduction="10000"/>
          </a:bodyPr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آشنایی با هم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/>
            <a:fld id="{B5CEABB6-07DC-46E8-9B57-56EC44A396E5}" type="slidenum">
              <a:rPr lang="en-US" smtClean="0">
                <a:cs typeface="B Titr" panose="00000700000000000000" pitchFamily="2" charset="-78"/>
              </a:rPr>
              <a:pPr rtl="1"/>
              <a:t>2</a:t>
            </a:fld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11B7C11-9A6B-4621-B15C-903B485D45B5}"/>
              </a:ext>
            </a:extLst>
          </p:cNvPr>
          <p:cNvSpPr txBox="1">
            <a:spLocks/>
          </p:cNvSpPr>
          <p:nvPr/>
        </p:nvSpPr>
        <p:spPr>
          <a:xfrm>
            <a:off x="4933950" y="3140678"/>
            <a:ext cx="6338887" cy="57664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dirty="0">
                <a:cs typeface="B Titr" panose="00000700000000000000" pitchFamily="2" charset="-78"/>
              </a:rPr>
              <a:t>مقدمه ای بر فریم ورک </a:t>
            </a:r>
            <a:r>
              <a:rPr lang="en-US" dirty="0" err="1">
                <a:cs typeface="B Titr" panose="00000700000000000000" pitchFamily="2" charset="-78"/>
              </a:rPr>
              <a:t>django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4D6F330-2A06-4AA7-B7CF-94C2D8B9F8FB}"/>
              </a:ext>
            </a:extLst>
          </p:cNvPr>
          <p:cNvSpPr txBox="1">
            <a:spLocks/>
          </p:cNvSpPr>
          <p:nvPr/>
        </p:nvSpPr>
        <p:spPr>
          <a:xfrm>
            <a:off x="4933949" y="3648455"/>
            <a:ext cx="6338887" cy="57664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dirty="0">
                <a:cs typeface="B Titr" panose="00000700000000000000" pitchFamily="2" charset="-78"/>
              </a:rPr>
              <a:t>مدل انتخابی و کارهای انجام شده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FA6FCC-67E5-4C33-B4E0-672EF7994CC9}"/>
              </a:ext>
            </a:extLst>
          </p:cNvPr>
          <p:cNvSpPr txBox="1">
            <a:spLocks/>
          </p:cNvSpPr>
          <p:nvPr/>
        </p:nvSpPr>
        <p:spPr>
          <a:xfrm>
            <a:off x="4933948" y="4142581"/>
            <a:ext cx="6338887" cy="57664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dirty="0">
                <a:cs typeface="B Titr" panose="00000700000000000000" pitchFamily="2" charset="-78"/>
              </a:rPr>
              <a:t>جمع بندی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94678CA-43AD-4028-AC20-B190E6184C76}"/>
              </a:ext>
            </a:extLst>
          </p:cNvPr>
          <p:cNvSpPr txBox="1">
            <a:spLocks/>
          </p:cNvSpPr>
          <p:nvPr/>
        </p:nvSpPr>
        <p:spPr>
          <a:xfrm>
            <a:off x="4933948" y="4650358"/>
            <a:ext cx="6338887" cy="57664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dirty="0">
                <a:cs typeface="B Titr" panose="00000700000000000000" pitchFamily="2" charset="-78"/>
              </a:rPr>
              <a:t>منابع</a:t>
            </a:r>
            <a:endParaRPr lang="en-US" dirty="0"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2"/>
            <a:ext cx="6343650" cy="1087742"/>
          </a:xfrm>
        </p:spPr>
        <p:txBody>
          <a:bodyPr>
            <a:normAutofit/>
          </a:bodyPr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آشنایی با هم</a:t>
            </a:r>
            <a:endParaRPr lang="en-ZA" dirty="0">
              <a:cs typeface="B Titr" panose="00000700000000000000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3949" y="2188487"/>
            <a:ext cx="6338887" cy="576643"/>
          </a:xfrm>
        </p:spPr>
        <p:txBody>
          <a:bodyPr>
            <a:normAutofit lnSpcReduction="10000"/>
          </a:bodyPr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محمدمهدی حسنی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/>
            <a:fld id="{B5CEABB6-07DC-46E8-9B57-56EC44A396E5}" type="slidenum">
              <a:rPr lang="en-US" smtClean="0">
                <a:cs typeface="B Titr" panose="00000700000000000000" pitchFamily="2" charset="-78"/>
              </a:rPr>
              <a:pPr rtl="1"/>
              <a:t>3</a:t>
            </a:fld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11B7C11-9A6B-4621-B15C-903B485D45B5}"/>
              </a:ext>
            </a:extLst>
          </p:cNvPr>
          <p:cNvSpPr txBox="1">
            <a:spLocks/>
          </p:cNvSpPr>
          <p:nvPr/>
        </p:nvSpPr>
        <p:spPr>
          <a:xfrm>
            <a:off x="4933949" y="2871643"/>
            <a:ext cx="6338887" cy="57664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dirty="0">
                <a:cs typeface="B Titr" panose="00000700000000000000" pitchFamily="2" charset="-78"/>
              </a:rPr>
              <a:t>فارغ </a:t>
            </a:r>
            <a:r>
              <a:rPr lang="fa-IR" dirty="0" err="1">
                <a:cs typeface="B Titr" panose="00000700000000000000" pitchFamily="2" charset="-78"/>
              </a:rPr>
              <a:t>التحصیل</a:t>
            </a:r>
            <a:r>
              <a:rPr lang="fa-IR" dirty="0">
                <a:cs typeface="B Titr" panose="00000700000000000000" pitchFamily="2" charset="-78"/>
              </a:rPr>
              <a:t> کارشناسی ورودی 99 دانشکده مهندسی کامپیوتر امیرکبیر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4D6F330-2A06-4AA7-B7CF-94C2D8B9F8FB}"/>
              </a:ext>
            </a:extLst>
          </p:cNvPr>
          <p:cNvSpPr txBox="1">
            <a:spLocks/>
          </p:cNvSpPr>
          <p:nvPr/>
        </p:nvSpPr>
        <p:spPr>
          <a:xfrm>
            <a:off x="4933949" y="5310751"/>
            <a:ext cx="6338887" cy="5766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cs typeface="B Titr" panose="00000700000000000000" pitchFamily="2" charset="-78"/>
                <a:hlinkClick r:id="rId3"/>
              </a:rPr>
              <a:t>https://github.com/MohammadMahdiHassani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FA6FCC-67E5-4C33-B4E0-672EF7994CC9}"/>
              </a:ext>
            </a:extLst>
          </p:cNvPr>
          <p:cNvSpPr txBox="1">
            <a:spLocks/>
          </p:cNvSpPr>
          <p:nvPr/>
        </p:nvSpPr>
        <p:spPr>
          <a:xfrm>
            <a:off x="4857069" y="6013419"/>
            <a:ext cx="6338887" cy="57664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cs typeface="B Titr" panose="00000700000000000000" pitchFamily="2" charset="-78"/>
              </a:rPr>
              <a:t>@mmh2116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94678CA-43AD-4028-AC20-B190E6184C76}"/>
              </a:ext>
            </a:extLst>
          </p:cNvPr>
          <p:cNvSpPr txBox="1">
            <a:spLocks/>
          </p:cNvSpPr>
          <p:nvPr/>
        </p:nvSpPr>
        <p:spPr>
          <a:xfrm>
            <a:off x="4857068" y="3415052"/>
            <a:ext cx="6338887" cy="10043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dirty="0">
                <a:cs typeface="B Titr" panose="00000700000000000000" pitchFamily="2" charset="-78"/>
              </a:rPr>
              <a:t>از 1400 تا 1402 پروژه تایپ صوتی </a:t>
            </a:r>
            <a:r>
              <a:rPr lang="fa-IR" dirty="0" err="1">
                <a:cs typeface="B Titr" panose="00000700000000000000" pitchFamily="2" charset="-78"/>
              </a:rPr>
              <a:t>زی‌تایپ</a:t>
            </a:r>
            <a:br>
              <a:rPr lang="fa-IR" dirty="0">
                <a:cs typeface="B Titr" panose="00000700000000000000" pitchFamily="2" charset="-78"/>
              </a:rPr>
            </a:br>
            <a:r>
              <a:rPr lang="en-US" dirty="0">
                <a:cs typeface="B Titr" panose="00000700000000000000" pitchFamily="2" charset="-78"/>
                <a:hlinkClick r:id="rId4"/>
              </a:rPr>
              <a:t>https://zitype.ir/</a:t>
            </a:r>
            <a:endParaRPr lang="en-US" dirty="0">
              <a:cs typeface="B Titr" panose="00000700000000000000" pitchFamily="2" charset="-78"/>
            </a:endParaRPr>
          </a:p>
        </p:txBody>
      </p:sp>
      <p:pic>
        <p:nvPicPr>
          <p:cNvPr id="2054" name="Picture 6" descr="‪GitHub - Wikipedia‬‏">
            <a:extLst>
              <a:ext uri="{FF2B5EF4-FFF2-40B4-BE49-F238E27FC236}">
                <a16:creationId xmlns:a16="http://schemas.microsoft.com/office/drawing/2014/main" id="{83A9EC94-5DCE-4876-8C9B-66B11B605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949" y="5310751"/>
            <a:ext cx="576643" cy="576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Telegram logo vector, Telegram icon free vector 18910740 Vector Art at  Vecteezy">
            <a:extLst>
              <a:ext uri="{FF2B5EF4-FFF2-40B4-BE49-F238E27FC236}">
                <a16:creationId xmlns:a16="http://schemas.microsoft.com/office/drawing/2014/main" id="{75C7847C-3FB5-4803-ACFA-3C7AF93F47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17" t="21404" r="20829" b="20983"/>
          <a:stretch/>
        </p:blipFill>
        <p:spPr bwMode="auto">
          <a:xfrm>
            <a:off x="4302913" y="6036577"/>
            <a:ext cx="593050" cy="576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35351115-4D03-4C20-A78F-807B6F8B4467}"/>
              </a:ext>
            </a:extLst>
          </p:cNvPr>
          <p:cNvSpPr txBox="1">
            <a:spLocks/>
          </p:cNvSpPr>
          <p:nvPr/>
        </p:nvSpPr>
        <p:spPr>
          <a:xfrm>
            <a:off x="4857068" y="4594693"/>
            <a:ext cx="6338887" cy="10043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dirty="0">
                <a:cs typeface="B Titr" panose="00000700000000000000" pitchFamily="2" charset="-78"/>
              </a:rPr>
              <a:t>از 1402 تا همین الان کارشناس شبکه</a:t>
            </a:r>
            <a:br>
              <a:rPr lang="fa-IR" dirty="0">
                <a:cs typeface="B Titr" panose="00000700000000000000" pitchFamily="2" charset="-78"/>
              </a:rPr>
            </a:br>
            <a:endParaRPr lang="en-US" dirty="0"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30338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544285"/>
            <a:ext cx="6594768" cy="3445329"/>
          </a:xfrm>
        </p:spPr>
        <p:txBody>
          <a:bodyPr>
            <a:normAutofit/>
          </a:bodyPr>
          <a:lstStyle/>
          <a:p>
            <a:pPr algn="ctr" rtl="1"/>
            <a:r>
              <a:rPr lang="fa-IR" dirty="0">
                <a:cs typeface="B Titr" panose="00000700000000000000" pitchFamily="2" charset="-78"/>
              </a:rPr>
              <a:t>مقدمه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cs typeface="B Titr" panose="00000700000000000000" pitchFamily="2" charset="-78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722376"/>
          </a:xfrm>
        </p:spPr>
        <p:txBody>
          <a:bodyPr/>
          <a:lstStyle/>
          <a:p>
            <a:pPr algn="r" rtl="1"/>
            <a:r>
              <a:rPr lang="fa-IR" dirty="0" err="1">
                <a:cs typeface="B Titr" panose="00000700000000000000" pitchFamily="2" charset="-78"/>
              </a:rPr>
              <a:t>جنگو</a:t>
            </a:r>
            <a:r>
              <a:rPr lang="fa-IR" dirty="0">
                <a:cs typeface="B Titr" panose="00000700000000000000" pitchFamily="2" charset="-78"/>
              </a:rPr>
              <a:t> چیست</a:t>
            </a:r>
            <a:r>
              <a:rPr lang="en-US" dirty="0">
                <a:cs typeface="B Titr" panose="00000700000000000000" pitchFamily="2" charset="-78"/>
              </a:rPr>
              <a:t>​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3F3455-E568-40C9-9F4D-8C89F4CD95F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646174" y="1786128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rtl="1"/>
            <a:r>
              <a:rPr lang="fa-IR" sz="2600" b="1" dirty="0">
                <a:cs typeface="B Mitra" panose="00000400000000000000" pitchFamily="2" charset="-78"/>
              </a:rPr>
              <a:t>یک </a:t>
            </a:r>
            <a:r>
              <a:rPr lang="fa-IR" sz="2600" b="1" dirty="0" err="1">
                <a:cs typeface="B Mitra" panose="00000400000000000000" pitchFamily="2" charset="-78"/>
              </a:rPr>
              <a:t>فریم‌ورک</a:t>
            </a:r>
            <a:r>
              <a:rPr lang="fa-IR" sz="2600" b="1" dirty="0">
                <a:cs typeface="B Mitra" panose="00000400000000000000" pitchFamily="2" charset="-78"/>
              </a:rPr>
              <a:t> برای توسعه برنامه های</a:t>
            </a:r>
          </a:p>
          <a:p>
            <a:pPr algn="r" rtl="1"/>
            <a:r>
              <a:rPr lang="fa-IR" sz="2600" b="1" dirty="0">
                <a:cs typeface="B Mitra" panose="00000400000000000000" pitchFamily="2" charset="-78"/>
              </a:rPr>
              <a:t> سمت سرور و </a:t>
            </a:r>
            <a:r>
              <a:rPr lang="en-US" sz="2600" b="1" dirty="0">
                <a:cs typeface="B Mitra" panose="00000400000000000000" pitchFamily="2" charset="-78"/>
              </a:rPr>
              <a:t>back-end</a:t>
            </a:r>
            <a:endParaRPr lang="fa-IR" sz="2600" b="1" dirty="0">
              <a:cs typeface="B Mitra" panose="00000400000000000000" pitchFamily="2" charset="-78"/>
            </a:endParaRPr>
          </a:p>
          <a:p>
            <a:pPr algn="r" rtl="1"/>
            <a:endParaRPr lang="en-US" dirty="0">
              <a:cs typeface="B Titr" panose="00000700000000000000" pitchFamily="2" charset="-78"/>
            </a:endParaRPr>
          </a:p>
          <a:p>
            <a:pPr lvl="1" algn="r" rtl="1"/>
            <a:r>
              <a:rPr lang="fa-IR" sz="2400" dirty="0" err="1">
                <a:cs typeface="B Mitra" panose="00000400000000000000" pitchFamily="2" charset="-78"/>
              </a:rPr>
              <a:t>آسان‌تر</a:t>
            </a:r>
            <a:r>
              <a:rPr lang="fa-IR" sz="2400" dirty="0">
                <a:cs typeface="B Mitra" panose="00000400000000000000" pitchFamily="2" charset="-78"/>
              </a:rPr>
              <a:t> کردن توسعه یک </a:t>
            </a:r>
            <a:r>
              <a:rPr lang="en-US" sz="2400" dirty="0">
                <a:cs typeface="B Mitra" panose="00000400000000000000" pitchFamily="2" charset="-78"/>
              </a:rPr>
              <a:t>web page</a:t>
            </a:r>
          </a:p>
          <a:p>
            <a:pPr lvl="1" algn="r" rtl="1"/>
            <a:r>
              <a:rPr lang="fa-IR" sz="2400" dirty="0">
                <a:cs typeface="B Mitra" panose="00000400000000000000" pitchFamily="2" charset="-78"/>
              </a:rPr>
              <a:t>آسانی مدیریت پایگاه داده</a:t>
            </a:r>
            <a:endParaRPr lang="en-US" sz="2400" dirty="0">
              <a:cs typeface="B Mitra" panose="00000400000000000000" pitchFamily="2" charset="-78"/>
            </a:endParaRPr>
          </a:p>
          <a:p>
            <a:pPr marL="228600" lvl="1" indent="0" algn="r" rtl="1">
              <a:buNone/>
            </a:pPr>
            <a:endParaRPr lang="en-US" sz="2400" dirty="0">
              <a:cs typeface="B Mitra" panose="00000400000000000000" pitchFamily="2" charset="-78"/>
            </a:endParaRPr>
          </a:p>
          <a:p>
            <a:pPr algn="r" rtl="1"/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295" y="6096000"/>
            <a:ext cx="457200" cy="365125"/>
          </a:xfrm>
        </p:spPr>
        <p:txBody>
          <a:bodyPr/>
          <a:lstStyle/>
          <a:p>
            <a:pPr algn="l" rtl="1"/>
            <a:fld id="{B5CEABB6-07DC-46E8-9B57-56EC44A396E5}" type="slidenum">
              <a:rPr lang="en-US" smtClean="0">
                <a:solidFill>
                  <a:schemeClr val="tx1"/>
                </a:solidFill>
                <a:cs typeface="B Titr" panose="00000700000000000000" pitchFamily="2" charset="-78"/>
              </a:rPr>
              <a:pPr algn="l" rtl="1"/>
              <a:t>5</a:t>
            </a:fld>
            <a:endParaRPr lang="en-US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2C9FB52-76CC-4A65-9D2C-85B64502EE42}"/>
              </a:ext>
            </a:extLst>
          </p:cNvPr>
          <p:cNvSpPr txBox="1">
            <a:spLocks/>
          </p:cNvSpPr>
          <p:nvPr/>
        </p:nvSpPr>
        <p:spPr>
          <a:xfrm>
            <a:off x="836295" y="1408176"/>
            <a:ext cx="4514850" cy="3505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2600" b="1" dirty="0">
                <a:cs typeface="B Mitra" panose="00000400000000000000" pitchFamily="2" charset="-78"/>
              </a:rPr>
              <a:t>با </a:t>
            </a:r>
            <a:r>
              <a:rPr lang="fa-IR" sz="2600" b="1" dirty="0" err="1">
                <a:cs typeface="B Mitra" panose="00000400000000000000" pitchFamily="2" charset="-78"/>
              </a:rPr>
              <a:t>یادگرفتن</a:t>
            </a:r>
            <a:r>
              <a:rPr lang="fa-IR" sz="2600" b="1" dirty="0">
                <a:cs typeface="B Mitra" panose="00000400000000000000" pitchFamily="2" charset="-78"/>
              </a:rPr>
              <a:t> </a:t>
            </a:r>
            <a:r>
              <a:rPr lang="fa-IR" sz="2600" b="1" dirty="0" err="1">
                <a:cs typeface="B Mitra" panose="00000400000000000000" pitchFamily="2" charset="-78"/>
              </a:rPr>
              <a:t>جنگو</a:t>
            </a:r>
            <a:r>
              <a:rPr lang="fa-IR" sz="2600" b="1" dirty="0">
                <a:cs typeface="B Mitra" panose="00000400000000000000" pitchFamily="2" charset="-78"/>
              </a:rPr>
              <a:t> شما </a:t>
            </a:r>
            <a:r>
              <a:rPr lang="fa-IR" sz="2600" b="1" dirty="0" err="1">
                <a:cs typeface="B Mitra" panose="00000400000000000000" pitchFamily="2" charset="-78"/>
              </a:rPr>
              <a:t>می‌توانید</a:t>
            </a:r>
            <a:endParaRPr lang="en-US" dirty="0">
              <a:cs typeface="B Titr" panose="00000700000000000000" pitchFamily="2" charset="-78"/>
            </a:endParaRPr>
          </a:p>
          <a:p>
            <a:pPr lvl="1" algn="r" rtl="1"/>
            <a:r>
              <a:rPr lang="fa-IR" sz="2400" dirty="0">
                <a:cs typeface="B Mitra" panose="00000400000000000000" pitchFamily="2" charset="-78"/>
              </a:rPr>
              <a:t>یک صفحه </a:t>
            </a:r>
            <a:r>
              <a:rPr lang="fa-IR" sz="2400" dirty="0" err="1">
                <a:cs typeface="B Mitra" panose="00000400000000000000" pitchFamily="2" charset="-78"/>
              </a:rPr>
              <a:t>وب</a:t>
            </a:r>
            <a:r>
              <a:rPr lang="fa-IR" sz="2400" dirty="0">
                <a:cs typeface="B Mitra" panose="00000400000000000000" pitchFamily="2" charset="-78"/>
              </a:rPr>
              <a:t> بسازید.</a:t>
            </a:r>
          </a:p>
          <a:p>
            <a:pPr lvl="1" algn="r" rtl="1"/>
            <a:r>
              <a:rPr lang="fa-IR" sz="2400" dirty="0">
                <a:cs typeface="B Mitra" panose="00000400000000000000" pitchFamily="2" charset="-78"/>
              </a:rPr>
              <a:t>اطلاعات را به </a:t>
            </a:r>
            <a:r>
              <a:rPr lang="fa-IR" sz="2400" dirty="0" err="1">
                <a:cs typeface="B Mitra" panose="00000400000000000000" pitchFamily="2" charset="-78"/>
              </a:rPr>
              <a:t>دیتابیس</a:t>
            </a:r>
            <a:r>
              <a:rPr lang="fa-IR" sz="2400" dirty="0">
                <a:cs typeface="B Mitra" panose="00000400000000000000" pitchFamily="2" charset="-78"/>
              </a:rPr>
              <a:t>، اضافه کنید یا حذف کنید. </a:t>
            </a:r>
            <a:r>
              <a:rPr lang="fa-IR" sz="2400" dirty="0" err="1">
                <a:cs typeface="B Mitra" panose="00000400000000000000" pitchFamily="2" charset="-78"/>
              </a:rPr>
              <a:t>عملیات‌های</a:t>
            </a:r>
            <a:r>
              <a:rPr lang="fa-IR" sz="2400" dirty="0">
                <a:cs typeface="B Mitra" panose="00000400000000000000" pitchFamily="2" charset="-78"/>
              </a:rPr>
              <a:t> </a:t>
            </a:r>
            <a:r>
              <a:rPr lang="en-US" sz="2400" dirty="0">
                <a:cs typeface="B Mitra" panose="00000400000000000000" pitchFamily="2" charset="-78"/>
              </a:rPr>
              <a:t>CRUD</a:t>
            </a:r>
          </a:p>
          <a:p>
            <a:pPr lvl="1" algn="r" rtl="1"/>
            <a:r>
              <a:rPr lang="fa-IR" sz="2400" dirty="0">
                <a:cs typeface="B Mitra" panose="00000400000000000000" pitchFamily="2" charset="-78"/>
              </a:rPr>
              <a:t>سمت </a:t>
            </a:r>
            <a:r>
              <a:rPr lang="en-US" sz="2400" dirty="0">
                <a:cs typeface="B Mitra" panose="00000400000000000000" pitchFamily="2" charset="-78"/>
              </a:rPr>
              <a:t>backend</a:t>
            </a:r>
            <a:r>
              <a:rPr lang="fa-IR" sz="2400" dirty="0">
                <a:cs typeface="B Mitra" panose="00000400000000000000" pitchFamily="2" charset="-78"/>
              </a:rPr>
              <a:t> یک پروژه </a:t>
            </a:r>
            <a:r>
              <a:rPr lang="fa-IR" sz="2400" dirty="0" err="1">
                <a:cs typeface="B Mitra" panose="00000400000000000000" pitchFamily="2" charset="-78"/>
              </a:rPr>
              <a:t>حرفه‌ای</a:t>
            </a:r>
            <a:r>
              <a:rPr lang="fa-IR" sz="2400" dirty="0">
                <a:cs typeface="B Mitra" panose="00000400000000000000" pitchFamily="2" charset="-78"/>
              </a:rPr>
              <a:t> را به صورت کامل توسعه دهید.</a:t>
            </a:r>
          </a:p>
          <a:p>
            <a:pPr marL="228600" lvl="1" indent="0" algn="r" rtl="1">
              <a:buNone/>
            </a:pPr>
            <a:endParaRPr lang="en-US" sz="2400" dirty="0">
              <a:cs typeface="B Mitra" panose="00000400000000000000" pitchFamily="2" charset="-78"/>
            </a:endParaRPr>
          </a:p>
          <a:p>
            <a:pPr marL="228600" lvl="1" indent="0" algn="r" rtl="1">
              <a:buFont typeface="Arial" panose="020B0604020202020204" pitchFamily="34" charset="0"/>
              <a:buNone/>
            </a:pPr>
            <a:endParaRPr lang="en-US" sz="2400" dirty="0">
              <a:cs typeface="B Mitra" panose="00000400000000000000" pitchFamily="2" charset="-78"/>
            </a:endParaRPr>
          </a:p>
          <a:p>
            <a:pPr algn="r" rtl="1"/>
            <a:endParaRPr lang="en-US" dirty="0"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530987"/>
            <a:ext cx="9389288" cy="722376"/>
          </a:xfrm>
        </p:spPr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معماری </a:t>
            </a:r>
            <a:r>
              <a:rPr lang="en-US" dirty="0">
                <a:cs typeface="B Titr" panose="00000700000000000000" pitchFamily="2" charset="-78"/>
              </a:rPr>
              <a:t>Django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295" y="6096000"/>
            <a:ext cx="457200" cy="365125"/>
          </a:xfrm>
        </p:spPr>
        <p:txBody>
          <a:bodyPr/>
          <a:lstStyle/>
          <a:p>
            <a:pPr algn="l" rtl="1"/>
            <a:fld id="{B5CEABB6-07DC-46E8-9B57-56EC44A396E5}" type="slidenum">
              <a:rPr lang="en-US" smtClean="0">
                <a:solidFill>
                  <a:schemeClr val="tx1"/>
                </a:solidFill>
                <a:cs typeface="B Titr" panose="00000700000000000000" pitchFamily="2" charset="-78"/>
              </a:rPr>
              <a:pPr algn="l" rtl="1"/>
              <a:t>6</a:t>
            </a:fld>
            <a:endParaRPr lang="en-US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202023F1-30E0-4739-A196-6FAFA8E88D6B}"/>
              </a:ext>
            </a:extLst>
          </p:cNvPr>
          <p:cNvSpPr txBox="1">
            <a:spLocks/>
          </p:cNvSpPr>
          <p:nvPr/>
        </p:nvSpPr>
        <p:spPr>
          <a:xfrm>
            <a:off x="2962656" y="1490472"/>
            <a:ext cx="7304913" cy="51755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2600" b="1" dirty="0">
                <a:cs typeface="B Mitra" panose="00000400000000000000" pitchFamily="2" charset="-78"/>
              </a:rPr>
              <a:t>تشکیل شده از سه قسمت</a:t>
            </a:r>
            <a:endParaRPr lang="en-US" dirty="0">
              <a:cs typeface="B Titr" panose="00000700000000000000" pitchFamily="2" charset="-78"/>
            </a:endParaRPr>
          </a:p>
          <a:p>
            <a:pPr lvl="1" algn="r" rtl="1"/>
            <a:r>
              <a:rPr lang="en-US" sz="2400" dirty="0">
                <a:cs typeface="B Mitra" panose="00000400000000000000" pitchFamily="2" charset="-78"/>
              </a:rPr>
              <a:t>Model</a:t>
            </a:r>
          </a:p>
          <a:p>
            <a:pPr lvl="2" algn="r" rtl="1"/>
            <a:r>
              <a:rPr lang="fa-IR" sz="2400" dirty="0">
                <a:cs typeface="B Mitra" panose="00000400000000000000" pitchFamily="2" charset="-78"/>
              </a:rPr>
              <a:t>طراحی </a:t>
            </a:r>
            <a:r>
              <a:rPr lang="fa-IR" sz="2400" dirty="0" err="1">
                <a:cs typeface="B Mitra" panose="00000400000000000000" pitchFamily="2" charset="-78"/>
              </a:rPr>
              <a:t>دیتابیس</a:t>
            </a:r>
            <a:endParaRPr lang="fa-IR" sz="2400" dirty="0">
              <a:cs typeface="B Mitra" panose="00000400000000000000" pitchFamily="2" charset="-78"/>
            </a:endParaRPr>
          </a:p>
          <a:p>
            <a:pPr lvl="2" algn="r" rtl="1"/>
            <a:r>
              <a:rPr lang="fa-IR" sz="2400" dirty="0">
                <a:cs typeface="B Mitra" panose="00000400000000000000" pitchFamily="2" charset="-78"/>
              </a:rPr>
              <a:t>فراهم کردن </a:t>
            </a:r>
            <a:r>
              <a:rPr lang="fa-IR" sz="2400" dirty="0" err="1">
                <a:cs typeface="B Mitra" panose="00000400000000000000" pitchFamily="2" charset="-78"/>
              </a:rPr>
              <a:t>داده‌ها</a:t>
            </a:r>
            <a:r>
              <a:rPr lang="fa-IR" sz="2400" dirty="0">
                <a:cs typeface="B Mitra" panose="00000400000000000000" pitchFamily="2" charset="-78"/>
              </a:rPr>
              <a:t> از </a:t>
            </a:r>
            <a:r>
              <a:rPr lang="fa-IR" sz="2400" dirty="0" err="1">
                <a:cs typeface="B Mitra" panose="00000400000000000000" pitchFamily="2" charset="-78"/>
              </a:rPr>
              <a:t>دیتابیس</a:t>
            </a:r>
            <a:endParaRPr lang="fa-IR" sz="2400" dirty="0">
              <a:cs typeface="B Mitra" panose="00000400000000000000" pitchFamily="2" charset="-78"/>
            </a:endParaRPr>
          </a:p>
          <a:p>
            <a:pPr lvl="2" algn="r" rtl="1"/>
            <a:r>
              <a:rPr lang="fa-IR" sz="2400" dirty="0">
                <a:cs typeface="B Mitra" panose="00000400000000000000" pitchFamily="2" charset="-78"/>
              </a:rPr>
              <a:t>معماری </a:t>
            </a:r>
            <a:r>
              <a:rPr lang="en-US" sz="2400" dirty="0">
                <a:cs typeface="B Mitra" panose="00000400000000000000" pitchFamily="2" charset="-78"/>
              </a:rPr>
              <a:t>ORM (Object Relational Mapping)</a:t>
            </a:r>
            <a:endParaRPr lang="fa-IR" sz="2400" dirty="0">
              <a:cs typeface="B Mitra" panose="00000400000000000000" pitchFamily="2" charset="-78"/>
            </a:endParaRPr>
          </a:p>
          <a:p>
            <a:pPr lvl="1" algn="r" rtl="1"/>
            <a:r>
              <a:rPr lang="en-US" sz="2400" dirty="0">
                <a:cs typeface="B Mitra" panose="00000400000000000000" pitchFamily="2" charset="-78"/>
              </a:rPr>
              <a:t>View</a:t>
            </a:r>
          </a:p>
          <a:p>
            <a:pPr lvl="2" algn="r" rtl="1"/>
            <a:r>
              <a:rPr lang="fa-IR" sz="2400" dirty="0">
                <a:cs typeface="B Mitra" panose="00000400000000000000" pitchFamily="2" charset="-78"/>
              </a:rPr>
              <a:t>دریافت درخواست های ورودی و پردازش </a:t>
            </a:r>
            <a:r>
              <a:rPr lang="fa-IR" sz="2400" dirty="0" err="1">
                <a:cs typeface="B Mitra" panose="00000400000000000000" pitchFamily="2" charset="-78"/>
              </a:rPr>
              <a:t>آن‌ها</a:t>
            </a:r>
            <a:endParaRPr lang="fa-IR" sz="2400" dirty="0">
              <a:cs typeface="B Mitra" panose="00000400000000000000" pitchFamily="2" charset="-78"/>
            </a:endParaRPr>
          </a:p>
          <a:p>
            <a:pPr lvl="2" algn="r" rtl="1"/>
            <a:r>
              <a:rPr lang="fa-IR" sz="2400" dirty="0">
                <a:cs typeface="B Mitra" panose="00000400000000000000" pitchFamily="2" charset="-78"/>
              </a:rPr>
              <a:t>محل نوشتن </a:t>
            </a:r>
            <a:r>
              <a:rPr lang="en-US" sz="2400" dirty="0">
                <a:cs typeface="B Mitra" panose="00000400000000000000" pitchFamily="2" charset="-78"/>
              </a:rPr>
              <a:t>API</a:t>
            </a:r>
            <a:endParaRPr lang="fa-IR" sz="2400" dirty="0">
              <a:cs typeface="B Mitra" panose="00000400000000000000" pitchFamily="2" charset="-78"/>
            </a:endParaRPr>
          </a:p>
          <a:p>
            <a:pPr lvl="2" algn="r" rtl="1"/>
            <a:r>
              <a:rPr lang="en-US" sz="2400" dirty="0">
                <a:cs typeface="B Mitra" panose="00000400000000000000" pitchFamily="2" charset="-78"/>
              </a:rPr>
              <a:t>Urls.py</a:t>
            </a:r>
          </a:p>
          <a:p>
            <a:pPr lvl="1" algn="r" rtl="1"/>
            <a:r>
              <a:rPr lang="en-US" sz="2400" dirty="0">
                <a:cs typeface="B Mitra" panose="00000400000000000000" pitchFamily="2" charset="-78"/>
              </a:rPr>
              <a:t>Template</a:t>
            </a:r>
          </a:p>
          <a:p>
            <a:pPr lvl="2" algn="r" rtl="1"/>
            <a:r>
              <a:rPr lang="fa-IR" sz="2400" dirty="0">
                <a:cs typeface="B Mitra" panose="00000400000000000000" pitchFamily="2" charset="-78"/>
              </a:rPr>
              <a:t>طراحی رابط کاربری </a:t>
            </a:r>
            <a:r>
              <a:rPr lang="fa-IR" sz="2400" dirty="0" err="1">
                <a:cs typeface="B Mitra" panose="00000400000000000000" pitchFamily="2" charset="-78"/>
              </a:rPr>
              <a:t>گرافیکی</a:t>
            </a:r>
            <a:endParaRPr lang="fa-IR" sz="2400" dirty="0">
              <a:cs typeface="B Mitra" panose="00000400000000000000" pitchFamily="2" charset="-78"/>
            </a:endParaRPr>
          </a:p>
          <a:p>
            <a:pPr lvl="2" algn="r" rtl="1"/>
            <a:r>
              <a:rPr lang="en-US" sz="2400" dirty="0">
                <a:cs typeface="B Mitra" panose="00000400000000000000" pitchFamily="2" charset="-78"/>
              </a:rPr>
              <a:t>Html</a:t>
            </a:r>
          </a:p>
          <a:p>
            <a:pPr marL="685800" lvl="2" indent="0" algn="r" rtl="1">
              <a:buNone/>
            </a:pPr>
            <a:endParaRPr lang="fa-IR" sz="2400" dirty="0">
              <a:cs typeface="B Mitra" panose="00000400000000000000" pitchFamily="2" charset="-78"/>
            </a:endParaRPr>
          </a:p>
          <a:p>
            <a:pPr marL="228600" lvl="1" indent="0" algn="r" rtl="1">
              <a:buNone/>
            </a:pPr>
            <a:endParaRPr lang="en-US" sz="2400" dirty="0">
              <a:cs typeface="B Mitra" panose="00000400000000000000" pitchFamily="2" charset="-78"/>
            </a:endParaRPr>
          </a:p>
          <a:p>
            <a:pPr marL="228600" lvl="1" indent="0" algn="r" rtl="1">
              <a:buFont typeface="Arial" panose="020B0604020202020204" pitchFamily="34" charset="0"/>
              <a:buNone/>
            </a:pPr>
            <a:endParaRPr lang="en-US" sz="2400" dirty="0">
              <a:cs typeface="B Mitra" panose="00000400000000000000" pitchFamily="2" charset="-78"/>
            </a:endParaRPr>
          </a:p>
          <a:p>
            <a:pPr algn="r" rtl="1"/>
            <a:endParaRPr lang="en-US" dirty="0"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42660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544285"/>
            <a:ext cx="6594768" cy="3445329"/>
          </a:xfrm>
        </p:spPr>
        <p:txBody>
          <a:bodyPr>
            <a:normAutofit/>
          </a:bodyPr>
          <a:lstStyle/>
          <a:p>
            <a:pPr algn="ctr" rtl="1"/>
            <a:r>
              <a:rPr lang="en-US" dirty="0">
                <a:cs typeface="B Titr" panose="00000700000000000000" pitchFamily="2" charset="-78"/>
              </a:rPr>
              <a:t>LETS go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cs typeface="B Titr" panose="00000700000000000000" pitchFamily="2" charset="-78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085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493776"/>
            <a:ext cx="9389288" cy="722376"/>
          </a:xfrm>
        </p:spPr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پیش نیازها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3F3455-E568-40C9-9F4D-8C89F4CD95F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0982" y="1420368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b="1" dirty="0">
                <a:cs typeface="B Mitra" panose="00000400000000000000" pitchFamily="2" charset="-78"/>
              </a:rPr>
              <a:t>Install python version 3</a:t>
            </a:r>
            <a:endParaRPr lang="en-US" dirty="0">
              <a:cs typeface="B Titr" panose="00000700000000000000" pitchFamily="2" charset="-78"/>
            </a:endParaRPr>
          </a:p>
          <a:p>
            <a:pPr lvl="1"/>
            <a:r>
              <a:rPr lang="en-US" sz="2400" dirty="0">
                <a:cs typeface="B Mitra" panose="00000400000000000000" pitchFamily="2" charset="-78"/>
                <a:hlinkClick r:id="rId3"/>
              </a:rPr>
              <a:t>https://www.python.org/downloads/</a:t>
            </a:r>
            <a:endParaRPr lang="en-US" sz="2400" dirty="0">
              <a:cs typeface="B Mitra" panose="00000400000000000000" pitchFamily="2" charset="-78"/>
            </a:endParaRPr>
          </a:p>
          <a:p>
            <a:pPr lvl="1"/>
            <a:r>
              <a:rPr lang="en-US" sz="2400" dirty="0">
                <a:cs typeface="B Mitra" panose="00000400000000000000" pitchFamily="2" charset="-78"/>
              </a:rPr>
              <a:t>python –-version</a:t>
            </a:r>
          </a:p>
          <a:p>
            <a:pPr lvl="1"/>
            <a:r>
              <a:rPr lang="en-US" sz="2400" dirty="0">
                <a:cs typeface="B Mitra" panose="00000400000000000000" pitchFamily="2" charset="-78"/>
              </a:rPr>
              <a:t>pip –version</a:t>
            </a:r>
          </a:p>
          <a:p>
            <a:pPr lvl="1"/>
            <a:r>
              <a:rPr lang="en-US" sz="2400" dirty="0">
                <a:cs typeface="B Mitra" panose="00000400000000000000" pitchFamily="2" charset="-78"/>
              </a:rPr>
              <a:t>Install </a:t>
            </a:r>
            <a:r>
              <a:rPr lang="en-US" sz="2400" dirty="0" err="1">
                <a:cs typeface="B Mitra" panose="00000400000000000000" pitchFamily="2" charset="-78"/>
              </a:rPr>
              <a:t>vscode</a:t>
            </a:r>
            <a:endParaRPr lang="en-US" sz="2400" dirty="0">
              <a:cs typeface="B Mitra" panose="00000400000000000000" pitchFamily="2" charset="-78"/>
            </a:endParaRPr>
          </a:p>
          <a:p>
            <a:pPr lvl="1"/>
            <a:r>
              <a:rPr lang="en-US" sz="2400" dirty="0">
                <a:cs typeface="B Mitra" panose="00000400000000000000" pitchFamily="2" charset="-78"/>
              </a:rPr>
              <a:t>python –m </a:t>
            </a:r>
            <a:r>
              <a:rPr lang="en-US" sz="2400" dirty="0" err="1">
                <a:cs typeface="B Mitra" panose="00000400000000000000" pitchFamily="2" charset="-78"/>
              </a:rPr>
              <a:t>venv</a:t>
            </a:r>
            <a:r>
              <a:rPr lang="en-US" sz="2400" dirty="0">
                <a:cs typeface="B Mitra" panose="00000400000000000000" pitchFamily="2" charset="-78"/>
              </a:rPr>
              <a:t> </a:t>
            </a:r>
            <a:r>
              <a:rPr lang="en-US" sz="2400" dirty="0" err="1">
                <a:cs typeface="B Mitra" panose="00000400000000000000" pitchFamily="2" charset="-78"/>
              </a:rPr>
              <a:t>my_project</a:t>
            </a:r>
            <a:endParaRPr lang="en-US" sz="2400" dirty="0">
              <a:cs typeface="B Mitra" panose="00000400000000000000" pitchFamily="2" charset="-78"/>
            </a:endParaRPr>
          </a:p>
          <a:p>
            <a:pPr lvl="1"/>
            <a:r>
              <a:rPr lang="en-US" sz="2400" dirty="0">
                <a:cs typeface="B Mitra" panose="00000400000000000000" pitchFamily="2" charset="-78"/>
              </a:rPr>
              <a:t>pip install Django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295" y="6096000"/>
            <a:ext cx="457200" cy="365125"/>
          </a:xfrm>
        </p:spPr>
        <p:txBody>
          <a:bodyPr/>
          <a:lstStyle/>
          <a:p>
            <a:pPr algn="l" rtl="1"/>
            <a:fld id="{B5CEABB6-07DC-46E8-9B57-56EC44A396E5}" type="slidenum">
              <a:rPr lang="en-US" smtClean="0">
                <a:solidFill>
                  <a:schemeClr val="tx1"/>
                </a:solidFill>
                <a:cs typeface="B Titr" panose="00000700000000000000" pitchFamily="2" charset="-78"/>
              </a:rPr>
              <a:pPr algn="l" rtl="1"/>
              <a:t>8</a:t>
            </a:fld>
            <a:endParaRPr lang="en-US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0B33F3-F278-4DF1-A68E-2A1077EE8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429000"/>
            <a:ext cx="5559552" cy="327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5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493776"/>
            <a:ext cx="9389288" cy="722376"/>
          </a:xfrm>
        </p:spPr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ساخت پروژه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3F3455-E568-40C9-9F4D-8C89F4CD95F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0982" y="1420368"/>
            <a:ext cx="6826242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cs typeface="B Titr" panose="00000700000000000000" pitchFamily="2" charset="-78"/>
            </a:endParaRPr>
          </a:p>
          <a:p>
            <a:pPr lvl="1"/>
            <a:r>
              <a:rPr lang="en-US" sz="2400" dirty="0" err="1">
                <a:cs typeface="B Mitra" panose="00000400000000000000" pitchFamily="2" charset="-78"/>
              </a:rPr>
              <a:t>django</a:t>
            </a:r>
            <a:r>
              <a:rPr lang="en-US" sz="2400" dirty="0">
                <a:cs typeface="B Mitra" panose="00000400000000000000" pitchFamily="2" charset="-78"/>
              </a:rPr>
              <a:t>-admin </a:t>
            </a:r>
            <a:r>
              <a:rPr lang="en-US" sz="2400" dirty="0" err="1">
                <a:cs typeface="B Mitra" panose="00000400000000000000" pitchFamily="2" charset="-78"/>
              </a:rPr>
              <a:t>startproject</a:t>
            </a:r>
            <a:r>
              <a:rPr lang="en-US" sz="2400" dirty="0">
                <a:cs typeface="B Mitra" panose="00000400000000000000" pitchFamily="2" charset="-78"/>
              </a:rPr>
              <a:t> </a:t>
            </a:r>
            <a:r>
              <a:rPr lang="en-US" sz="2400" dirty="0" err="1">
                <a:cs typeface="B Mitra" panose="00000400000000000000" pitchFamily="2" charset="-78"/>
              </a:rPr>
              <a:t>first_project</a:t>
            </a:r>
            <a:endParaRPr lang="en-US" sz="2400" dirty="0">
              <a:cs typeface="B Mitra" panose="00000400000000000000" pitchFamily="2" charset="-78"/>
            </a:endParaRPr>
          </a:p>
          <a:p>
            <a:pPr lvl="1"/>
            <a:r>
              <a:rPr lang="en-US" sz="2400" dirty="0">
                <a:cs typeface="B Mitra" panose="00000400000000000000" pitchFamily="2" charset="-78"/>
              </a:rPr>
              <a:t>python manage.py migrate</a:t>
            </a:r>
          </a:p>
          <a:p>
            <a:pPr lvl="1"/>
            <a:r>
              <a:rPr lang="en-US" sz="2400" dirty="0">
                <a:cs typeface="B Mitra" panose="00000400000000000000" pitchFamily="2" charset="-78"/>
              </a:rPr>
              <a:t>Python manage.py </a:t>
            </a:r>
            <a:r>
              <a:rPr lang="en-US" sz="2400" dirty="0" err="1">
                <a:cs typeface="B Mitra" panose="00000400000000000000" pitchFamily="2" charset="-78"/>
              </a:rPr>
              <a:t>runserver</a:t>
            </a:r>
            <a:endParaRPr lang="en-US" sz="2400" dirty="0">
              <a:cs typeface="B Mitra" panose="00000400000000000000" pitchFamily="2" charset="-78"/>
            </a:endParaRPr>
          </a:p>
          <a:p>
            <a:pPr lvl="1"/>
            <a:r>
              <a:rPr lang="en-US" sz="2400" dirty="0">
                <a:cs typeface="B Mitra" panose="00000400000000000000" pitchFamily="2" charset="-78"/>
              </a:rPr>
              <a:t>Open 127.0.0.1:8000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295" y="6096000"/>
            <a:ext cx="457200" cy="365125"/>
          </a:xfrm>
        </p:spPr>
        <p:txBody>
          <a:bodyPr/>
          <a:lstStyle/>
          <a:p>
            <a:pPr algn="l" rtl="1"/>
            <a:fld id="{B5CEABB6-07DC-46E8-9B57-56EC44A396E5}" type="slidenum">
              <a:rPr lang="en-US" smtClean="0">
                <a:solidFill>
                  <a:schemeClr val="tx1"/>
                </a:solidFill>
                <a:cs typeface="B Titr" panose="00000700000000000000" pitchFamily="2" charset="-78"/>
              </a:rPr>
              <a:pPr algn="l" rtl="1"/>
              <a:t>9</a:t>
            </a:fld>
            <a:endParaRPr lang="en-US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CDA0CF-1A49-423B-B795-411283C33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959" y="3091802"/>
            <a:ext cx="6232961" cy="366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69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1950151-0FE0-482F-ADBD-EE52BFC46C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9B7A9F-83D5-4264-91C0-B309A9EDBFB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AD375C2-2973-4C8B-9800-5B5271D300B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267</Words>
  <Application>Microsoft Office PowerPoint</Application>
  <PresentationFormat>Widescreen</PresentationFormat>
  <Paragraphs>75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Avenir Next LT Pro</vt:lpstr>
      <vt:lpstr>Calibri</vt:lpstr>
      <vt:lpstr>Custom</vt:lpstr>
      <vt:lpstr>آموزش DJango</vt:lpstr>
      <vt:lpstr>فهرست</vt:lpstr>
      <vt:lpstr>آشنایی با هم</vt:lpstr>
      <vt:lpstr>مقدمه</vt:lpstr>
      <vt:lpstr>جنگو چیست​</vt:lpstr>
      <vt:lpstr>معماری Django</vt:lpstr>
      <vt:lpstr>LETS go</vt:lpstr>
      <vt:lpstr>پیش نیازها</vt:lpstr>
      <vt:lpstr>ساخت پروژه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2023-12-19T13:11:42Z</dcterms:created>
  <dcterms:modified xsi:type="dcterms:W3CDTF">2025-04-25T14:21:50Z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