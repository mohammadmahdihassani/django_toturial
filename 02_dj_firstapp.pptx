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 autoCompressPictures="0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256" r:id="rId5"/>
    <p:sldId id="268" r:id="rId6"/>
    <p:sldId id="317" r:id="rId7"/>
    <p:sldId id="293" r:id="rId8"/>
    <p:sldId id="294" r:id="rId9"/>
    <p:sldId id="318" r:id="rId10"/>
    <p:sldId id="319" r:id="rId11"/>
    <p:sldId id="295" r:id="rId12"/>
    <p:sldId id="296" r:id="rId13"/>
    <p:sldId id="320" r:id="rId14"/>
    <p:sldId id="321" r:id="rId15"/>
    <p:sldId id="322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10" r:id="rId29"/>
    <p:sldId id="311" r:id="rId30"/>
    <p:sldId id="312" r:id="rId31"/>
    <p:sldId id="313" r:id="rId32"/>
    <p:sldId id="314" r:id="rId33"/>
    <p:sldId id="315" r:id="rId34"/>
    <p:sldId id="279" r:id="rId35"/>
    <p:sldId id="27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14" autoAdjust="0"/>
    <p:restoredTop sz="93204" autoAdjust="0"/>
  </p:normalViewPr>
  <p:slideViewPr>
    <p:cSldViewPr snapToGrid="0">
      <p:cViewPr varScale="1">
        <p:scale>
          <a:sx n="105" d="100"/>
          <a:sy n="105" d="100"/>
        </p:scale>
        <p:origin x="738" y="108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56"/>
    </p:cViewPr>
  </p:sorterViewPr>
  <p:notesViewPr>
    <p:cSldViewPr snapToGrid="0" showGuides="1">
      <p:cViewPr varScale="1">
        <p:scale>
          <a:sx n="86" d="100"/>
          <a:sy n="86" d="100"/>
        </p:scale>
        <p:origin x="978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commentAuthors" Target="commentAuthor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4/25/2025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4/25/2025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262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712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336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a-IR" dirty="0"/>
              <a:t>هر چه عمق لایه ها بیشتر باشد یادگیری بهتر انجام </a:t>
            </a:r>
            <a:r>
              <a:rPr lang="fa-IR" dirty="0" err="1"/>
              <a:t>می‌شود</a:t>
            </a:r>
            <a:r>
              <a:rPr lang="fa-IR" dirty="0"/>
              <a:t> و اصطلاحا یادگیری عمیق رخ </a:t>
            </a:r>
            <a:r>
              <a:rPr lang="fa-IR" dirty="0" err="1"/>
              <a:t>می‌دهد</a:t>
            </a:r>
            <a:r>
              <a:rPr lang="fa-I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549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7655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64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1531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0695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8865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8484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9151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618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024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1774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9456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5577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5040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8626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855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4308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773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7536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2269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6530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332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7095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6023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9112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Optical character recognition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313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2914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25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5.png"/><Relationship Id="rId4" Type="http://schemas.openxmlformats.org/officeDocument/2006/relationships/image" Target="../media/image14.png"/><Relationship Id="rId9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4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3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42204" y="1597202"/>
            <a:ext cx="6856292" cy="1817922"/>
          </a:xfrm>
        </p:spPr>
        <p:txBody>
          <a:bodyPr>
            <a:normAutofit/>
          </a:bodyPr>
          <a:lstStyle/>
          <a:p>
            <a:pPr algn="r" rtl="1"/>
            <a:r>
              <a:rPr lang="fa-IR" sz="4800" dirty="0">
                <a:cs typeface="B Titr" panose="00000700000000000000" pitchFamily="2" charset="-78"/>
              </a:rPr>
              <a:t>آموزش </a:t>
            </a:r>
            <a:r>
              <a:rPr lang="en-US" sz="4800" dirty="0" err="1">
                <a:cs typeface="B Titr" panose="00000700000000000000" pitchFamily="2" charset="-78"/>
              </a:rPr>
              <a:t>DJango</a:t>
            </a:r>
            <a:endParaRPr lang="en-US" sz="4800" dirty="0">
              <a:cs typeface="B Titr" panose="00000700000000000000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8ABDDA-6D8C-4C1A-BFF5-2CCCDAF45D32}"/>
              </a:ext>
            </a:extLst>
          </p:cNvPr>
          <p:cNvSpPr txBox="1">
            <a:spLocks/>
          </p:cNvSpPr>
          <p:nvPr/>
        </p:nvSpPr>
        <p:spPr>
          <a:xfrm>
            <a:off x="2297708" y="262128"/>
            <a:ext cx="6856292" cy="908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/>
            <a:r>
              <a:rPr lang="fa-IR" sz="4200" dirty="0">
                <a:cs typeface="B Titr" panose="00000700000000000000" pitchFamily="2" charset="-78"/>
              </a:rPr>
              <a:t>به نام خدا</a:t>
            </a:r>
            <a:endParaRPr lang="en-US" sz="4200" dirty="0">
              <a:cs typeface="B Titr" panose="000007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3784D9-3E3C-4B8F-B868-9EB12FFD8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856" y="0"/>
            <a:ext cx="1715144" cy="174064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B5BCB96-862A-496D-A429-D1920BE8DF0D}"/>
              </a:ext>
            </a:extLst>
          </p:cNvPr>
          <p:cNvSpPr txBox="1">
            <a:spLocks/>
          </p:cNvSpPr>
          <p:nvPr/>
        </p:nvSpPr>
        <p:spPr>
          <a:xfrm>
            <a:off x="7162800" y="4610084"/>
            <a:ext cx="4435696" cy="8044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rtl="1"/>
            <a:r>
              <a:rPr lang="fa-IR" sz="2400" dirty="0">
                <a:cs typeface="B Titr" panose="00000700000000000000" pitchFamily="2" charset="-78"/>
              </a:rPr>
              <a:t>ارائه دهنده: محمدمهدی حسنی</a:t>
            </a:r>
            <a:endParaRPr lang="en-US" sz="2400" dirty="0">
              <a:cs typeface="B Titr" panose="00000700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E4C02C-6215-44CF-8097-E97D2ED6800E}"/>
              </a:ext>
            </a:extLst>
          </p:cNvPr>
          <p:cNvSpPr txBox="1">
            <a:spLocks/>
          </p:cNvSpPr>
          <p:nvPr/>
        </p:nvSpPr>
        <p:spPr>
          <a:xfrm>
            <a:off x="9345168" y="5272902"/>
            <a:ext cx="1637390" cy="8044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rtl="1"/>
            <a:r>
              <a:rPr lang="fa-IR" sz="2400" dirty="0">
                <a:cs typeface="B Titr" panose="00000700000000000000" pitchFamily="2" charset="-78"/>
              </a:rPr>
              <a:t>بهار 1404</a:t>
            </a:r>
            <a:endParaRPr lang="en-US" sz="2400" dirty="0">
              <a:cs typeface="B Titr" panose="00000700000000000000" pitchFamily="2" charset="-78"/>
            </a:endParaRPr>
          </a:p>
        </p:txBody>
      </p:sp>
      <p:pic>
        <p:nvPicPr>
          <p:cNvPr id="1026" name="Picture 2" descr="Python - Wikiversity">
            <a:extLst>
              <a:ext uri="{FF2B5EF4-FFF2-40B4-BE49-F238E27FC236}">
                <a16:creationId xmlns:a16="http://schemas.microsoft.com/office/drawing/2014/main" id="{E8BA780D-3DB4-4155-9CE4-C78C149CD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098" y="3049505"/>
            <a:ext cx="1926198" cy="1926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‪A Beginner's Guide to Getting Started With Django‬‏">
            <a:extLst>
              <a:ext uri="{FF2B5EF4-FFF2-40B4-BE49-F238E27FC236}">
                <a16:creationId xmlns:a16="http://schemas.microsoft.com/office/drawing/2014/main" id="{8BB28611-9CC4-47F9-BFAB-F544C9906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2227" y="3095609"/>
            <a:ext cx="2807161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22376"/>
          </a:xfrm>
        </p:spPr>
        <p:txBody>
          <a:bodyPr/>
          <a:lstStyle/>
          <a:p>
            <a:pPr algn="r" rtl="1"/>
            <a:r>
              <a:rPr lang="fa-IR" dirty="0" err="1">
                <a:cs typeface="B Titr" panose="00000700000000000000" pitchFamily="2" charset="-78"/>
              </a:rPr>
              <a:t>جنگو</a:t>
            </a:r>
            <a:r>
              <a:rPr lang="fa-IR" dirty="0">
                <a:cs typeface="B Titr" panose="00000700000000000000" pitchFamily="2" charset="-78"/>
              </a:rPr>
              <a:t> چیست</a:t>
            </a:r>
            <a:r>
              <a:rPr lang="en-US" dirty="0">
                <a:cs typeface="B Titr" panose="00000700000000000000" pitchFamily="2" charset="-78"/>
              </a:rPr>
              <a:t>​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646174" y="1786128"/>
            <a:ext cx="4514850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یک </a:t>
            </a:r>
            <a:r>
              <a:rPr lang="fa-IR" sz="2600" b="1" dirty="0" err="1">
                <a:cs typeface="B Mitra" panose="00000400000000000000" pitchFamily="2" charset="-78"/>
              </a:rPr>
              <a:t>فریم‌ورک</a:t>
            </a:r>
            <a:r>
              <a:rPr lang="fa-IR" sz="2600" b="1" dirty="0">
                <a:cs typeface="B Mitra" panose="00000400000000000000" pitchFamily="2" charset="-78"/>
              </a:rPr>
              <a:t> برای توسعه برنامه های</a:t>
            </a:r>
          </a:p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 سمت سرور و </a:t>
            </a:r>
            <a:r>
              <a:rPr lang="en-US" sz="2600" b="1" dirty="0">
                <a:cs typeface="B Mitra" panose="00000400000000000000" pitchFamily="2" charset="-78"/>
              </a:rPr>
              <a:t>back-end</a:t>
            </a:r>
            <a:endParaRPr lang="fa-IR" sz="2600" b="1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 err="1">
                <a:cs typeface="B Mitra" panose="00000400000000000000" pitchFamily="2" charset="-78"/>
              </a:rPr>
              <a:t>آسان‌تر</a:t>
            </a:r>
            <a:r>
              <a:rPr lang="fa-IR" sz="2400" dirty="0">
                <a:cs typeface="B Mitra" panose="00000400000000000000" pitchFamily="2" charset="-78"/>
              </a:rPr>
              <a:t> کردن توسعه یک </a:t>
            </a:r>
            <a:r>
              <a:rPr lang="en-US" sz="2400" dirty="0">
                <a:cs typeface="B Mitra" panose="00000400000000000000" pitchFamily="2" charset="-78"/>
              </a:rPr>
              <a:t>web page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آسانی مدیریت پایگاه داده</a:t>
            </a:r>
            <a:endParaRPr lang="en-US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en-US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2C9FB52-76CC-4A65-9D2C-85B64502EE42}"/>
              </a:ext>
            </a:extLst>
          </p:cNvPr>
          <p:cNvSpPr txBox="1">
            <a:spLocks/>
          </p:cNvSpPr>
          <p:nvPr/>
        </p:nvSpPr>
        <p:spPr>
          <a:xfrm>
            <a:off x="836295" y="1408176"/>
            <a:ext cx="4514850" cy="35052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با </a:t>
            </a:r>
            <a:r>
              <a:rPr lang="fa-IR" sz="2600" b="1" dirty="0" err="1">
                <a:cs typeface="B Mitra" panose="00000400000000000000" pitchFamily="2" charset="-78"/>
              </a:rPr>
              <a:t>یادگرفتن</a:t>
            </a:r>
            <a:r>
              <a:rPr lang="fa-IR" sz="2600" b="1" dirty="0">
                <a:cs typeface="B Mitra" panose="00000400000000000000" pitchFamily="2" charset="-78"/>
              </a:rPr>
              <a:t> </a:t>
            </a:r>
            <a:r>
              <a:rPr lang="fa-IR" sz="2600" b="1" dirty="0" err="1">
                <a:cs typeface="B Mitra" panose="00000400000000000000" pitchFamily="2" charset="-78"/>
              </a:rPr>
              <a:t>جنگو</a:t>
            </a:r>
            <a:r>
              <a:rPr lang="fa-IR" sz="2600" b="1" dirty="0">
                <a:cs typeface="B Mitra" panose="00000400000000000000" pitchFamily="2" charset="-78"/>
              </a:rPr>
              <a:t> شما </a:t>
            </a:r>
            <a:r>
              <a:rPr lang="fa-IR" sz="2600" b="1" dirty="0" err="1">
                <a:cs typeface="B Mitra" panose="00000400000000000000" pitchFamily="2" charset="-78"/>
              </a:rPr>
              <a:t>می‌توانید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یک صفحه </a:t>
            </a:r>
            <a:r>
              <a:rPr lang="fa-IR" sz="2400" dirty="0" err="1">
                <a:cs typeface="B Mitra" panose="00000400000000000000" pitchFamily="2" charset="-78"/>
              </a:rPr>
              <a:t>وب</a:t>
            </a:r>
            <a:r>
              <a:rPr lang="fa-IR" sz="2400" dirty="0">
                <a:cs typeface="B Mitra" panose="00000400000000000000" pitchFamily="2" charset="-78"/>
              </a:rPr>
              <a:t> بسازید.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اطلاعات را به </a:t>
            </a:r>
            <a:r>
              <a:rPr lang="fa-IR" sz="2400" dirty="0" err="1">
                <a:cs typeface="B Mitra" panose="00000400000000000000" pitchFamily="2" charset="-78"/>
              </a:rPr>
              <a:t>دیتابیس</a:t>
            </a:r>
            <a:r>
              <a:rPr lang="fa-IR" sz="2400" dirty="0">
                <a:cs typeface="B Mitra" panose="00000400000000000000" pitchFamily="2" charset="-78"/>
              </a:rPr>
              <a:t>، اضافه کنید یا حذف کنید. </a:t>
            </a:r>
            <a:r>
              <a:rPr lang="fa-IR" sz="2400" dirty="0" err="1">
                <a:cs typeface="B Mitra" panose="00000400000000000000" pitchFamily="2" charset="-78"/>
              </a:rPr>
              <a:t>عملیات‌های</a:t>
            </a:r>
            <a:r>
              <a:rPr lang="fa-IR" sz="2400" dirty="0">
                <a:cs typeface="B Mitra" panose="00000400000000000000" pitchFamily="2" charset="-78"/>
              </a:rPr>
              <a:t> </a:t>
            </a:r>
            <a:r>
              <a:rPr lang="en-US" sz="2400" dirty="0">
                <a:cs typeface="B Mitra" panose="00000400000000000000" pitchFamily="2" charset="-78"/>
              </a:rPr>
              <a:t>CRUD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سمت </a:t>
            </a:r>
            <a:r>
              <a:rPr lang="en-US" sz="2400" dirty="0">
                <a:cs typeface="B Mitra" panose="00000400000000000000" pitchFamily="2" charset="-78"/>
              </a:rPr>
              <a:t>backend</a:t>
            </a:r>
            <a:r>
              <a:rPr lang="fa-IR" sz="2400" dirty="0">
                <a:cs typeface="B Mitra" panose="00000400000000000000" pitchFamily="2" charset="-78"/>
              </a:rPr>
              <a:t> یک پروژه </a:t>
            </a:r>
            <a:r>
              <a:rPr lang="fa-IR" sz="2400" dirty="0" err="1">
                <a:cs typeface="B Mitra" panose="00000400000000000000" pitchFamily="2" charset="-78"/>
              </a:rPr>
              <a:t>حرفه‌ای</a:t>
            </a:r>
            <a:r>
              <a:rPr lang="fa-IR" sz="2400" dirty="0">
                <a:cs typeface="B Mitra" panose="00000400000000000000" pitchFamily="2" charset="-78"/>
              </a:rPr>
              <a:t> را به صورت کامل توسعه دهید.</a:t>
            </a:r>
          </a:p>
          <a:p>
            <a:pPr marL="228600" lvl="1" indent="0" algn="r" rtl="1">
              <a:buNone/>
            </a:pPr>
            <a:endParaRPr lang="en-US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en-US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530987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معماری </a:t>
            </a:r>
            <a:r>
              <a:rPr lang="en-US" dirty="0">
                <a:cs typeface="B Titr" panose="00000700000000000000" pitchFamily="2" charset="-78"/>
              </a:rPr>
              <a:t>Django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3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202023F1-30E0-4739-A196-6FAFA8E88D6B}"/>
              </a:ext>
            </a:extLst>
          </p:cNvPr>
          <p:cNvSpPr txBox="1">
            <a:spLocks/>
          </p:cNvSpPr>
          <p:nvPr/>
        </p:nvSpPr>
        <p:spPr>
          <a:xfrm>
            <a:off x="2962656" y="1490472"/>
            <a:ext cx="7304913" cy="5175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تشکیل شده از سه قسمت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Model</a:t>
            </a:r>
          </a:p>
          <a:p>
            <a:pPr lvl="2" algn="r" rtl="1"/>
            <a:r>
              <a:rPr lang="fa-IR" sz="2400" dirty="0">
                <a:cs typeface="B Mitra" panose="00000400000000000000" pitchFamily="2" charset="-78"/>
              </a:rPr>
              <a:t>طراحی </a:t>
            </a:r>
            <a:r>
              <a:rPr lang="fa-IR" sz="2400" dirty="0" err="1">
                <a:cs typeface="B Mitra" panose="00000400000000000000" pitchFamily="2" charset="-78"/>
              </a:rPr>
              <a:t>دیتابیس</a:t>
            </a:r>
            <a:endParaRPr lang="fa-IR" sz="2400" dirty="0">
              <a:cs typeface="B Mitra" panose="00000400000000000000" pitchFamily="2" charset="-78"/>
            </a:endParaRPr>
          </a:p>
          <a:p>
            <a:pPr lvl="2" algn="r" rtl="1"/>
            <a:r>
              <a:rPr lang="fa-IR" sz="2400" dirty="0">
                <a:cs typeface="B Mitra" panose="00000400000000000000" pitchFamily="2" charset="-78"/>
              </a:rPr>
              <a:t>فراهم کردن </a:t>
            </a:r>
            <a:r>
              <a:rPr lang="fa-IR" sz="2400" dirty="0" err="1">
                <a:cs typeface="B Mitra" panose="00000400000000000000" pitchFamily="2" charset="-78"/>
              </a:rPr>
              <a:t>داده‌ها</a:t>
            </a:r>
            <a:r>
              <a:rPr lang="fa-IR" sz="2400" dirty="0">
                <a:cs typeface="B Mitra" panose="00000400000000000000" pitchFamily="2" charset="-78"/>
              </a:rPr>
              <a:t> از </a:t>
            </a:r>
            <a:r>
              <a:rPr lang="fa-IR" sz="2400" dirty="0" err="1">
                <a:cs typeface="B Mitra" panose="00000400000000000000" pitchFamily="2" charset="-78"/>
              </a:rPr>
              <a:t>دیتابیس</a:t>
            </a:r>
            <a:endParaRPr lang="fa-IR" sz="2400" dirty="0">
              <a:cs typeface="B Mitra" panose="00000400000000000000" pitchFamily="2" charset="-78"/>
            </a:endParaRPr>
          </a:p>
          <a:p>
            <a:pPr lvl="2" algn="r" rtl="1"/>
            <a:r>
              <a:rPr lang="fa-IR" sz="2400" dirty="0">
                <a:cs typeface="B Mitra" panose="00000400000000000000" pitchFamily="2" charset="-78"/>
              </a:rPr>
              <a:t>معماری </a:t>
            </a:r>
            <a:r>
              <a:rPr lang="en-US" sz="2400" dirty="0">
                <a:cs typeface="B Mitra" panose="00000400000000000000" pitchFamily="2" charset="-78"/>
              </a:rPr>
              <a:t>ORM (Object Relational Mapping)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View</a:t>
            </a:r>
          </a:p>
          <a:p>
            <a:pPr lvl="2" algn="r" rtl="1"/>
            <a:r>
              <a:rPr lang="fa-IR" sz="2400" dirty="0">
                <a:cs typeface="B Mitra" panose="00000400000000000000" pitchFamily="2" charset="-78"/>
              </a:rPr>
              <a:t>دریافت درخواست های ورودی و پردازش </a:t>
            </a:r>
            <a:r>
              <a:rPr lang="fa-IR" sz="2400" dirty="0" err="1">
                <a:cs typeface="B Mitra" panose="00000400000000000000" pitchFamily="2" charset="-78"/>
              </a:rPr>
              <a:t>آن‌ها</a:t>
            </a:r>
            <a:endParaRPr lang="fa-IR" sz="2400" dirty="0">
              <a:cs typeface="B Mitra" panose="00000400000000000000" pitchFamily="2" charset="-78"/>
            </a:endParaRPr>
          </a:p>
          <a:p>
            <a:pPr lvl="2" algn="r" rtl="1"/>
            <a:r>
              <a:rPr lang="fa-IR" sz="2400" dirty="0">
                <a:cs typeface="B Mitra" panose="00000400000000000000" pitchFamily="2" charset="-78"/>
              </a:rPr>
              <a:t>محل نوشتن </a:t>
            </a:r>
            <a:r>
              <a:rPr lang="en-US" sz="2400" dirty="0">
                <a:cs typeface="B Mitra" panose="00000400000000000000" pitchFamily="2" charset="-78"/>
              </a:rPr>
              <a:t>API</a:t>
            </a:r>
            <a:endParaRPr lang="fa-IR" sz="2400" dirty="0">
              <a:cs typeface="B Mitra" panose="00000400000000000000" pitchFamily="2" charset="-78"/>
            </a:endParaRPr>
          </a:p>
          <a:p>
            <a:pPr lvl="2" algn="r" rtl="1"/>
            <a:r>
              <a:rPr lang="en-US" sz="2400" dirty="0">
                <a:cs typeface="B Mitra" panose="00000400000000000000" pitchFamily="2" charset="-78"/>
              </a:rPr>
              <a:t>Urls.py</a:t>
            </a: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Template</a:t>
            </a:r>
          </a:p>
          <a:p>
            <a:pPr lvl="2" algn="r" rtl="1"/>
            <a:r>
              <a:rPr lang="fa-IR" sz="2400" dirty="0">
                <a:cs typeface="B Mitra" panose="00000400000000000000" pitchFamily="2" charset="-78"/>
              </a:rPr>
              <a:t>طراحی رابط کاربری </a:t>
            </a:r>
            <a:r>
              <a:rPr lang="fa-IR" sz="2400" dirty="0" err="1">
                <a:cs typeface="B Mitra" panose="00000400000000000000" pitchFamily="2" charset="-78"/>
              </a:rPr>
              <a:t>گرافیکی</a:t>
            </a:r>
            <a:endParaRPr lang="fa-IR" sz="2400" dirty="0">
              <a:cs typeface="B Mitra" panose="00000400000000000000" pitchFamily="2" charset="-78"/>
            </a:endParaRPr>
          </a:p>
          <a:p>
            <a:pPr lvl="2" algn="r" rtl="1"/>
            <a:r>
              <a:rPr lang="en-US" sz="2400" dirty="0">
                <a:cs typeface="B Mitra" panose="00000400000000000000" pitchFamily="2" charset="-78"/>
              </a:rPr>
              <a:t>Html</a:t>
            </a:r>
          </a:p>
          <a:p>
            <a:pPr marL="685800" lvl="2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en-US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en-US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2660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3694" y="544285"/>
            <a:ext cx="6594768" cy="3445329"/>
          </a:xfrm>
        </p:spPr>
        <p:txBody>
          <a:bodyPr>
            <a:normAutofit/>
          </a:bodyPr>
          <a:lstStyle/>
          <a:p>
            <a:pPr algn="ctr" rtl="1"/>
            <a:r>
              <a:rPr lang="en-US" dirty="0">
                <a:cs typeface="B Titr" panose="00000700000000000000" pitchFamily="2" charset="-78"/>
              </a:rPr>
              <a:t>LETS go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B Titr" panose="00000700000000000000" pitchFamily="2" charset="-78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4085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پیش نیازها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0982" y="1420368"/>
            <a:ext cx="4514850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b="1" dirty="0">
                <a:cs typeface="B Mitra" panose="00000400000000000000" pitchFamily="2" charset="-78"/>
              </a:rPr>
              <a:t>Install python version 3</a:t>
            </a:r>
            <a:endParaRPr lang="en-US" dirty="0">
              <a:cs typeface="B Titr" panose="00000700000000000000" pitchFamily="2" charset="-78"/>
            </a:endParaRPr>
          </a:p>
          <a:p>
            <a:pPr lvl="1"/>
            <a:r>
              <a:rPr lang="en-US" sz="2400" dirty="0">
                <a:cs typeface="B Mitra" panose="00000400000000000000" pitchFamily="2" charset="-78"/>
                <a:hlinkClick r:id="rId3"/>
              </a:rPr>
              <a:t>https://www.python.org/downloads/</a:t>
            </a:r>
            <a:endParaRPr lang="en-US" sz="2400" dirty="0">
              <a:cs typeface="B Mitra" panose="00000400000000000000" pitchFamily="2" charset="-78"/>
            </a:endParaRP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python –-version</a:t>
            </a: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pip –version</a:t>
            </a: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Install </a:t>
            </a:r>
            <a:r>
              <a:rPr lang="en-US" sz="2400" dirty="0" err="1">
                <a:cs typeface="B Mitra" panose="00000400000000000000" pitchFamily="2" charset="-78"/>
              </a:rPr>
              <a:t>vscode</a:t>
            </a:r>
            <a:endParaRPr lang="en-US" sz="2400" dirty="0">
              <a:cs typeface="B Mitra" panose="00000400000000000000" pitchFamily="2" charset="-78"/>
            </a:endParaRP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python –m </a:t>
            </a:r>
            <a:r>
              <a:rPr lang="en-US" sz="2400" dirty="0" err="1">
                <a:cs typeface="B Mitra" panose="00000400000000000000" pitchFamily="2" charset="-78"/>
              </a:rPr>
              <a:t>venv</a:t>
            </a:r>
            <a:r>
              <a:rPr lang="en-US" sz="2400" dirty="0">
                <a:cs typeface="B Mitra" panose="00000400000000000000" pitchFamily="2" charset="-78"/>
              </a:rPr>
              <a:t> </a:t>
            </a:r>
            <a:r>
              <a:rPr lang="en-US" sz="2400" dirty="0" err="1">
                <a:cs typeface="B Mitra" panose="00000400000000000000" pitchFamily="2" charset="-78"/>
              </a:rPr>
              <a:t>my_project</a:t>
            </a:r>
            <a:endParaRPr lang="en-US" sz="2400" dirty="0">
              <a:cs typeface="B Mitra" panose="00000400000000000000" pitchFamily="2" charset="-78"/>
            </a:endParaRP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pip install Django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5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0B33F3-F278-4DF1-A68E-2A1077EE8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429000"/>
            <a:ext cx="5559552" cy="327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5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ساخت پروژه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0982" y="1420368"/>
            <a:ext cx="6826242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>
              <a:cs typeface="B Titr" panose="00000700000000000000" pitchFamily="2" charset="-78"/>
            </a:endParaRPr>
          </a:p>
          <a:p>
            <a:pPr lvl="1"/>
            <a:r>
              <a:rPr lang="en-US" sz="2400" dirty="0" err="1">
                <a:cs typeface="B Mitra" panose="00000400000000000000" pitchFamily="2" charset="-78"/>
              </a:rPr>
              <a:t>django</a:t>
            </a:r>
            <a:r>
              <a:rPr lang="en-US" sz="2400" dirty="0">
                <a:cs typeface="B Mitra" panose="00000400000000000000" pitchFamily="2" charset="-78"/>
              </a:rPr>
              <a:t>-admin </a:t>
            </a:r>
            <a:r>
              <a:rPr lang="en-US" sz="2400" dirty="0" err="1">
                <a:cs typeface="B Mitra" panose="00000400000000000000" pitchFamily="2" charset="-78"/>
              </a:rPr>
              <a:t>startproject</a:t>
            </a:r>
            <a:r>
              <a:rPr lang="en-US" sz="2400" dirty="0">
                <a:cs typeface="B Mitra" panose="00000400000000000000" pitchFamily="2" charset="-78"/>
              </a:rPr>
              <a:t> </a:t>
            </a:r>
            <a:r>
              <a:rPr lang="en-US" sz="2400" dirty="0" err="1">
                <a:cs typeface="B Mitra" panose="00000400000000000000" pitchFamily="2" charset="-78"/>
              </a:rPr>
              <a:t>tennis_club</a:t>
            </a:r>
            <a:endParaRPr lang="en-US" sz="2400" dirty="0">
              <a:cs typeface="B Mitra" panose="00000400000000000000" pitchFamily="2" charset="-78"/>
            </a:endParaRP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python manage.py migrate</a:t>
            </a: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python manage.py </a:t>
            </a:r>
            <a:r>
              <a:rPr lang="en-US" sz="2400" dirty="0" err="1">
                <a:cs typeface="B Mitra" panose="00000400000000000000" pitchFamily="2" charset="-78"/>
              </a:rPr>
              <a:t>runserver</a:t>
            </a:r>
            <a:endParaRPr lang="en-US" sz="2400" dirty="0">
              <a:cs typeface="B Mitra" panose="00000400000000000000" pitchFamily="2" charset="-78"/>
            </a:endParaRPr>
          </a:p>
          <a:p>
            <a:pPr lvl="1"/>
            <a:r>
              <a:rPr lang="en-US" sz="2400" dirty="0">
                <a:cs typeface="B Mitra" panose="00000400000000000000" pitchFamily="2" charset="-78"/>
              </a:rPr>
              <a:t>Open 127.0.0.1:8000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6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CDA0CF-1A49-423B-B795-411283C33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959" y="3091802"/>
            <a:ext cx="6232961" cy="366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69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3694" y="544285"/>
            <a:ext cx="6594768" cy="3445329"/>
          </a:xfrm>
        </p:spPr>
        <p:txBody>
          <a:bodyPr>
            <a:normAutofit/>
          </a:bodyPr>
          <a:lstStyle/>
          <a:p>
            <a:pPr algn="ctr" rtl="1"/>
            <a:r>
              <a:rPr lang="fa-IR" dirty="0">
                <a:cs typeface="B Titr" panose="00000700000000000000" pitchFamily="2" charset="-78"/>
              </a:rPr>
              <a:t>پروژه عملی</a:t>
            </a:r>
            <a:br>
              <a:rPr lang="fa-IR" dirty="0">
                <a:cs typeface="B Titr" panose="00000700000000000000" pitchFamily="2" charset="-78"/>
              </a:rPr>
            </a:br>
            <a:r>
              <a:rPr lang="fa-IR" dirty="0">
                <a:cs typeface="B Titr" panose="00000700000000000000" pitchFamily="2" charset="-78"/>
              </a:rPr>
              <a:t>باشگاه تنیس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B Titr" panose="00000700000000000000" pitchFamily="2" charset="-78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284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باشگاه تنیس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646174" y="1786128"/>
            <a:ext cx="4514850" cy="224942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مرحله به مرحله، طراحی مدیریت یک</a:t>
            </a:r>
          </a:p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 باشگاه تنیس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طراحی </a:t>
            </a:r>
            <a:r>
              <a:rPr lang="en-US" sz="2400" dirty="0">
                <a:cs typeface="B Mitra" panose="00000400000000000000" pitchFamily="2" charset="-78"/>
              </a:rPr>
              <a:t>API</a:t>
            </a:r>
            <a:r>
              <a:rPr lang="fa-IR" sz="2400" dirty="0">
                <a:cs typeface="B Mitra" panose="00000400000000000000" pitchFamily="2" charset="-78"/>
              </a:rPr>
              <a:t> ها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طراحی </a:t>
            </a:r>
            <a:r>
              <a:rPr lang="fa-IR" sz="2400" dirty="0" err="1">
                <a:cs typeface="B Mitra" panose="00000400000000000000" pitchFamily="2" charset="-78"/>
              </a:rPr>
              <a:t>دیتابیس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طراحی رابط کاربری</a:t>
            </a:r>
            <a:endParaRPr lang="en-US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8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136AB4-5596-40F3-8CF5-D9528C92B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665" y="1615440"/>
            <a:ext cx="5570220" cy="5242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001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ساخت </a:t>
            </a:r>
            <a:r>
              <a:rPr lang="en-US" dirty="0">
                <a:cs typeface="B Titr" panose="00000700000000000000" pitchFamily="2" charset="-78"/>
              </a:rPr>
              <a:t>APP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3383280" y="1804416"/>
            <a:ext cx="7116072" cy="17891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نقش </a:t>
            </a:r>
            <a:r>
              <a:rPr lang="en-US" sz="2600" b="1" dirty="0">
                <a:cs typeface="B Mitra" panose="00000400000000000000" pitchFamily="2" charset="-78"/>
              </a:rPr>
              <a:t>APP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معمولا برای یک کاربرد خاص و عملکرد به پروژه اضافه </a:t>
            </a:r>
            <a:r>
              <a:rPr lang="fa-IR" sz="2400" dirty="0" err="1">
                <a:cs typeface="B Mitra" panose="00000400000000000000" pitchFamily="2" charset="-78"/>
              </a:rPr>
              <a:t>می‌شود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پاسخ دادن به یک درخواست خاص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نمایش لیست بازیکنان</a:t>
            </a: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9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E33048DF-8A65-47BC-BC27-0557BB8306B4}"/>
              </a:ext>
            </a:extLst>
          </p:cNvPr>
          <p:cNvSpPr txBox="1">
            <a:spLocks/>
          </p:cNvSpPr>
          <p:nvPr/>
        </p:nvSpPr>
        <p:spPr>
          <a:xfrm>
            <a:off x="-114546" y="2316480"/>
            <a:ext cx="6314178" cy="1021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cs typeface="B Titr" panose="00000700000000000000" pitchFamily="2" charset="-78"/>
            </a:endParaRPr>
          </a:p>
          <a:p>
            <a:pPr lvl="1"/>
            <a:r>
              <a:rPr lang="en-US" sz="2400" dirty="0" err="1">
                <a:cs typeface="B Mitra" panose="00000400000000000000" pitchFamily="2" charset="-78"/>
              </a:rPr>
              <a:t>django</a:t>
            </a:r>
            <a:r>
              <a:rPr lang="en-US" sz="2400" dirty="0">
                <a:cs typeface="B Mitra" panose="00000400000000000000" pitchFamily="2" charset="-78"/>
              </a:rPr>
              <a:t>-admin </a:t>
            </a:r>
            <a:r>
              <a:rPr lang="en-US" sz="2400" dirty="0" err="1">
                <a:cs typeface="B Mitra" panose="00000400000000000000" pitchFamily="2" charset="-78"/>
              </a:rPr>
              <a:t>startapp</a:t>
            </a:r>
            <a:r>
              <a:rPr lang="en-US" sz="2400" dirty="0">
                <a:cs typeface="B Mitra" panose="00000400000000000000" pitchFamily="2" charset="-78"/>
              </a:rPr>
              <a:t> members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D63979-41D4-466E-8869-12559E17A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6901" y="3554032"/>
            <a:ext cx="4486901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051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en-US" dirty="0">
                <a:cs typeface="B Titr" panose="00000700000000000000" pitchFamily="2" charset="-78"/>
              </a:rPr>
              <a:t>Views, URLs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2096901" y="1804416"/>
            <a:ext cx="8402451" cy="17891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en-US" sz="2600" b="1" dirty="0">
                <a:cs typeface="B Mitra" panose="00000400000000000000" pitchFamily="2" charset="-78"/>
              </a:rPr>
              <a:t>Function</a:t>
            </a:r>
            <a:r>
              <a:rPr lang="fa-IR" sz="2600" b="1" dirty="0">
                <a:cs typeface="B Mitra" panose="00000400000000000000" pitchFamily="2" charset="-78"/>
              </a:rPr>
              <a:t>های </a:t>
            </a:r>
            <a:r>
              <a:rPr lang="fa-IR" sz="2600" b="1" dirty="0" err="1">
                <a:cs typeface="B Mitra" panose="00000400000000000000" pitchFamily="2" charset="-78"/>
              </a:rPr>
              <a:t>پایتون</a:t>
            </a:r>
            <a:r>
              <a:rPr lang="fa-IR" sz="2600" b="1" dirty="0">
                <a:cs typeface="B Mitra" panose="00000400000000000000" pitchFamily="2" charset="-78"/>
              </a:rPr>
              <a:t> که درخواست </a:t>
            </a:r>
            <a:r>
              <a:rPr lang="en-US" sz="2600" b="1" dirty="0">
                <a:cs typeface="B Mitra" panose="00000400000000000000" pitchFamily="2" charset="-78"/>
              </a:rPr>
              <a:t>http</a:t>
            </a:r>
            <a:r>
              <a:rPr lang="fa-IR" sz="2600" b="1" dirty="0">
                <a:cs typeface="B Mitra" panose="00000400000000000000" pitchFamily="2" charset="-78"/>
              </a:rPr>
              <a:t> را دریافت </a:t>
            </a:r>
            <a:r>
              <a:rPr lang="fa-IR" sz="2600" b="1" dirty="0" err="1">
                <a:cs typeface="B Mitra" panose="00000400000000000000" pitchFamily="2" charset="-78"/>
              </a:rPr>
              <a:t>می‌کنند</a:t>
            </a:r>
            <a:r>
              <a:rPr lang="fa-IR" sz="2600" b="1" dirty="0">
                <a:cs typeface="B Mitra" panose="00000400000000000000" pitchFamily="2" charset="-78"/>
              </a:rPr>
              <a:t> و پاسخ میدهند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محل قرارگیری پیاده سازی این بخش در فایل </a:t>
            </a:r>
            <a:r>
              <a:rPr lang="en-US" sz="2400" dirty="0">
                <a:cs typeface="B Mitra" panose="00000400000000000000" pitchFamily="2" charset="-78"/>
              </a:rPr>
              <a:t>views.py</a:t>
            </a:r>
            <a:r>
              <a:rPr lang="fa-IR" sz="2400" dirty="0">
                <a:cs typeface="B Mitra" panose="00000400000000000000" pitchFamily="2" charset="-78"/>
              </a:rPr>
              <a:t> در </a:t>
            </a:r>
            <a:r>
              <a:rPr lang="fa-IR" sz="2400" dirty="0" err="1">
                <a:cs typeface="B Mitra" panose="00000400000000000000" pitchFamily="2" charset="-78"/>
              </a:rPr>
              <a:t>فولدر</a:t>
            </a:r>
            <a:r>
              <a:rPr lang="fa-IR" sz="2400" dirty="0">
                <a:cs typeface="B Mitra" panose="00000400000000000000" pitchFamily="2" charset="-78"/>
              </a:rPr>
              <a:t> </a:t>
            </a:r>
            <a:r>
              <a:rPr lang="en-US" sz="2400" dirty="0">
                <a:cs typeface="B Mitra" panose="00000400000000000000" pitchFamily="2" charset="-78"/>
              </a:rPr>
              <a:t>app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در فایل </a:t>
            </a:r>
            <a:r>
              <a:rPr lang="en-US" sz="2400" dirty="0" err="1">
                <a:cs typeface="B Mitra" panose="00000400000000000000" pitchFamily="2" charset="-78"/>
              </a:rPr>
              <a:t>url</a:t>
            </a:r>
            <a:r>
              <a:rPr lang="fa-IR" sz="2400" dirty="0">
                <a:cs typeface="B Mitra" panose="00000400000000000000" pitchFamily="2" charset="-78"/>
              </a:rPr>
              <a:t> مشخص </a:t>
            </a:r>
            <a:r>
              <a:rPr lang="fa-IR" sz="2400" dirty="0" err="1">
                <a:cs typeface="B Mitra" panose="00000400000000000000" pitchFamily="2" charset="-78"/>
              </a:rPr>
              <a:t>می‌شود</a:t>
            </a:r>
            <a:r>
              <a:rPr lang="fa-IR" sz="2400" dirty="0">
                <a:cs typeface="B Mitra" panose="00000400000000000000" pitchFamily="2" charset="-78"/>
              </a:rPr>
              <a:t> که هر درخواست توسط چه </a:t>
            </a:r>
            <a:r>
              <a:rPr lang="fa-IR" sz="2400" dirty="0" err="1">
                <a:cs typeface="B Mitra" panose="00000400000000000000" pitchFamily="2" charset="-78"/>
              </a:rPr>
              <a:t>فانکشنی</a:t>
            </a:r>
            <a:r>
              <a:rPr lang="fa-IR" sz="2400" dirty="0">
                <a:cs typeface="B Mitra" panose="00000400000000000000" pitchFamily="2" charset="-78"/>
              </a:rPr>
              <a:t> پاسخ داده شود</a:t>
            </a: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10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73425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en-US" dirty="0">
                <a:cs typeface="B Titr" panose="00000700000000000000" pitchFamily="2" charset="-78"/>
              </a:rPr>
              <a:t>templates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2096901" y="1804416"/>
            <a:ext cx="8402451" cy="17891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در </a:t>
            </a:r>
            <a:r>
              <a:rPr lang="fa-IR" sz="2600" b="1" dirty="0" err="1">
                <a:cs typeface="B Mitra" panose="00000400000000000000" pitchFamily="2" charset="-78"/>
              </a:rPr>
              <a:t>فولدر</a:t>
            </a:r>
            <a:r>
              <a:rPr lang="fa-IR" sz="2600" b="1" dirty="0">
                <a:cs typeface="B Mitra" panose="00000400000000000000" pitchFamily="2" charset="-78"/>
              </a:rPr>
              <a:t> </a:t>
            </a:r>
            <a:r>
              <a:rPr lang="en-US" sz="2600" b="1" dirty="0">
                <a:cs typeface="B Mitra" panose="00000400000000000000" pitchFamily="2" charset="-78"/>
              </a:rPr>
              <a:t>templates</a:t>
            </a:r>
            <a:r>
              <a:rPr lang="fa-IR" sz="2600" b="1" dirty="0">
                <a:cs typeface="B Mitra" panose="00000400000000000000" pitchFamily="2" charset="-78"/>
              </a:rPr>
              <a:t> فایل های </a:t>
            </a:r>
            <a:r>
              <a:rPr lang="en-US" sz="2600" b="1" dirty="0">
                <a:cs typeface="B Mitra" panose="00000400000000000000" pitchFamily="2" charset="-78"/>
              </a:rPr>
              <a:t>html, </a:t>
            </a:r>
            <a:r>
              <a:rPr lang="en-US" sz="2600" b="1" dirty="0" err="1">
                <a:cs typeface="B Mitra" panose="00000400000000000000" pitchFamily="2" charset="-78"/>
              </a:rPr>
              <a:t>css</a:t>
            </a:r>
            <a:r>
              <a:rPr lang="fa-IR" sz="2600" b="1" dirty="0">
                <a:cs typeface="B Mitra" panose="00000400000000000000" pitchFamily="2" charset="-78"/>
              </a:rPr>
              <a:t> برای طراحی رابط کاربری</a:t>
            </a:r>
          </a:p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 </a:t>
            </a:r>
            <a:r>
              <a:rPr lang="fa-IR" sz="2600" b="1" dirty="0" err="1">
                <a:cs typeface="B Mitra" panose="00000400000000000000" pitchFamily="2" charset="-78"/>
              </a:rPr>
              <a:t>گرافیکی</a:t>
            </a:r>
            <a:r>
              <a:rPr lang="fa-IR" sz="2600" b="1" dirty="0">
                <a:cs typeface="B Mitra" panose="00000400000000000000" pitchFamily="2" charset="-78"/>
              </a:rPr>
              <a:t> </a:t>
            </a:r>
            <a:r>
              <a:rPr lang="fa-IR" sz="2600" b="1" dirty="0" err="1">
                <a:cs typeface="B Mitra" panose="00000400000000000000" pitchFamily="2" charset="-78"/>
              </a:rPr>
              <a:t>قرارمیگیرند</a:t>
            </a:r>
            <a:r>
              <a:rPr lang="fa-IR" sz="2600" b="1" dirty="0">
                <a:cs typeface="B Mitra" panose="00000400000000000000" pitchFamily="2" charset="-78"/>
              </a:rPr>
              <a:t>.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محل قرارگیری پیاده سازی این بخش در فایل </a:t>
            </a:r>
            <a:r>
              <a:rPr lang="en-US" sz="2400" dirty="0">
                <a:cs typeface="B Mitra" panose="00000400000000000000" pitchFamily="2" charset="-78"/>
              </a:rPr>
              <a:t>views.py</a:t>
            </a:r>
            <a:r>
              <a:rPr lang="fa-IR" sz="2400" dirty="0">
                <a:cs typeface="B Mitra" panose="00000400000000000000" pitchFamily="2" charset="-78"/>
              </a:rPr>
              <a:t> در </a:t>
            </a:r>
            <a:r>
              <a:rPr lang="fa-IR" sz="2400" dirty="0" err="1">
                <a:cs typeface="B Mitra" panose="00000400000000000000" pitchFamily="2" charset="-78"/>
              </a:rPr>
              <a:t>فولدر</a:t>
            </a:r>
            <a:r>
              <a:rPr lang="fa-IR" sz="2400" dirty="0">
                <a:cs typeface="B Mitra" panose="00000400000000000000" pitchFamily="2" charset="-78"/>
              </a:rPr>
              <a:t> </a:t>
            </a:r>
            <a:r>
              <a:rPr lang="en-US" sz="2400" dirty="0">
                <a:cs typeface="B Mitra" panose="00000400000000000000" pitchFamily="2" charset="-78"/>
              </a:rPr>
              <a:t>app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در فایل </a:t>
            </a:r>
            <a:r>
              <a:rPr lang="en-US" sz="2400" dirty="0" err="1">
                <a:cs typeface="B Mitra" panose="00000400000000000000" pitchFamily="2" charset="-78"/>
              </a:rPr>
              <a:t>url</a:t>
            </a:r>
            <a:r>
              <a:rPr lang="fa-IR" sz="2400" dirty="0">
                <a:cs typeface="B Mitra" panose="00000400000000000000" pitchFamily="2" charset="-78"/>
              </a:rPr>
              <a:t> مشخص </a:t>
            </a:r>
            <a:r>
              <a:rPr lang="fa-IR" sz="2400" dirty="0" err="1">
                <a:cs typeface="B Mitra" panose="00000400000000000000" pitchFamily="2" charset="-78"/>
              </a:rPr>
              <a:t>می‌شود</a:t>
            </a:r>
            <a:r>
              <a:rPr lang="fa-IR" sz="2400" dirty="0">
                <a:cs typeface="B Mitra" panose="00000400000000000000" pitchFamily="2" charset="-78"/>
              </a:rPr>
              <a:t> که هر درخواست توسط چه </a:t>
            </a:r>
            <a:r>
              <a:rPr lang="fa-IR" sz="2400" dirty="0" err="1">
                <a:cs typeface="B Mitra" panose="00000400000000000000" pitchFamily="2" charset="-78"/>
              </a:rPr>
              <a:t>فانکشنی</a:t>
            </a:r>
            <a:r>
              <a:rPr lang="fa-IR" sz="2400" dirty="0">
                <a:cs typeface="B Mitra" panose="00000400000000000000" pitchFamily="2" charset="-78"/>
              </a:rPr>
              <a:t> پاسخ داده شود</a:t>
            </a: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11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65184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en-US" dirty="0">
                <a:cs typeface="B Titr" panose="00000700000000000000" pitchFamily="2" charset="-78"/>
              </a:rPr>
              <a:t>Models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2096901" y="1804416"/>
            <a:ext cx="8402451" cy="378256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طراحی جدول های </a:t>
            </a:r>
            <a:r>
              <a:rPr lang="fa-IR" sz="2600" b="1" dirty="0" err="1">
                <a:cs typeface="B Mitra" panose="00000400000000000000" pitchFamily="2" charset="-78"/>
              </a:rPr>
              <a:t>دیتابیس</a:t>
            </a:r>
            <a:r>
              <a:rPr lang="fa-IR" sz="2600" b="1" dirty="0">
                <a:cs typeface="B Mitra" panose="00000400000000000000" pitchFamily="2" charset="-78"/>
              </a:rPr>
              <a:t> برای پروژه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ساخت جدول اطلاعات </a:t>
            </a:r>
            <a:r>
              <a:rPr lang="en-US" sz="2400" dirty="0">
                <a:cs typeface="B Mitra" panose="00000400000000000000" pitchFamily="2" charset="-78"/>
              </a:rPr>
              <a:t>members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افزودن عضو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حذف</a:t>
            </a:r>
          </a:p>
          <a:p>
            <a:pPr lvl="1" algn="r" rtl="1"/>
            <a:r>
              <a:rPr lang="fa-IR" sz="2400" dirty="0" err="1">
                <a:cs typeface="B Mitra" panose="00000400000000000000" pitchFamily="2" charset="-78"/>
              </a:rPr>
              <a:t>بروزرسانی</a:t>
            </a: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12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07931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21608" y="576943"/>
            <a:ext cx="7702949" cy="2785508"/>
          </a:xfrm>
        </p:spPr>
        <p:txBody>
          <a:bodyPr>
            <a:normAutofit/>
          </a:bodyPr>
          <a:lstStyle/>
          <a:p>
            <a:pPr algn="r" rtl="1"/>
            <a:r>
              <a:rPr lang="fa-IR" dirty="0" err="1">
                <a:cs typeface="B Titr" panose="00000700000000000000" pitchFamily="2" charset="-78"/>
              </a:rPr>
              <a:t>پیشرفت‌های</a:t>
            </a:r>
            <a:r>
              <a:rPr lang="fa-IR" dirty="0">
                <a:cs typeface="B Titr" panose="00000700000000000000" pitchFamily="2" charset="-78"/>
              </a:rPr>
              <a:t> اخیر در یادگیری عمیق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74772" y="3373686"/>
            <a:ext cx="6449785" cy="102958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بررسی چند مدل پیشرفته</a:t>
            </a:r>
            <a:endParaRPr lang="en-US" dirty="0">
              <a:cs typeface="B Titr" panose="000007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8D8EF-09F7-2BAC-3EC4-6E8F4051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 rtl="1"/>
            <a:fld id="{B5CEABB6-07DC-46E8-9B57-56EC44A396E5}" type="slidenum">
              <a:rPr lang="en-US" smtClean="0">
                <a:cs typeface="B Titr" panose="00000700000000000000" pitchFamily="2" charset="-78"/>
              </a:rPr>
              <a:pPr algn="l" rtl="1"/>
              <a:t>13</a:t>
            </a:fld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38802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شبکه عصبی </a:t>
            </a:r>
            <a:r>
              <a:rPr lang="fa-IR" dirty="0" err="1">
                <a:cs typeface="B Titr" panose="00000700000000000000" pitchFamily="2" charset="-78"/>
              </a:rPr>
              <a:t>پیچشی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596128" y="1804416"/>
            <a:ext cx="5309618" cy="2904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تقلید از الگوی یادگیری چشم انسان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انجام پیچش روی تصاویر با استفاده از </a:t>
            </a:r>
            <a:r>
              <a:rPr lang="fa-IR" sz="2400" dirty="0" err="1">
                <a:cs typeface="B Mitra" panose="00000400000000000000" pitchFamily="2" charset="-78"/>
              </a:rPr>
              <a:t>کرنل‌ها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هر کرنل برای استخراج </a:t>
            </a:r>
            <a:r>
              <a:rPr lang="fa-IR" sz="2400" dirty="0" err="1">
                <a:cs typeface="B Mitra" panose="00000400000000000000" pitchFamily="2" charset="-78"/>
              </a:rPr>
              <a:t>ویژگی‌های</a:t>
            </a:r>
            <a:r>
              <a:rPr lang="fa-IR" sz="2400" dirty="0">
                <a:cs typeface="B Mitra" panose="00000400000000000000" pitchFamily="2" charset="-78"/>
              </a:rPr>
              <a:t> خاص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کاربرد در شناسایی </a:t>
            </a:r>
            <a:r>
              <a:rPr lang="fa-IR" sz="2400" dirty="0" err="1">
                <a:cs typeface="B Mitra" panose="00000400000000000000" pitchFamily="2" charset="-78"/>
              </a:rPr>
              <a:t>داده‌های</a:t>
            </a:r>
            <a:r>
              <a:rPr lang="fa-IR" sz="2400" dirty="0">
                <a:cs typeface="B Mitra" panose="00000400000000000000" pitchFamily="2" charset="-78"/>
              </a:rPr>
              <a:t> </a:t>
            </a:r>
            <a:r>
              <a:rPr lang="fa-IR" sz="2400" dirty="0" err="1">
                <a:cs typeface="B Mitra" panose="00000400000000000000" pitchFamily="2" charset="-78"/>
              </a:rPr>
              <a:t>ساختارمند</a:t>
            </a:r>
            <a:r>
              <a:rPr lang="fa-IR" sz="2400" dirty="0">
                <a:cs typeface="B Mitra" panose="00000400000000000000" pitchFamily="2" charset="-78"/>
              </a:rPr>
              <a:t> مانند تصاویر</a:t>
            </a: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35089" y="6278562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14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76C5E4AB-A90A-4F43-AF75-343C95060CAE}"/>
              </a:ext>
            </a:extLst>
          </p:cNvPr>
          <p:cNvSpPr txBox="1">
            <a:spLocks/>
          </p:cNvSpPr>
          <p:nvPr/>
        </p:nvSpPr>
        <p:spPr>
          <a:xfrm>
            <a:off x="-158498" y="1804416"/>
            <a:ext cx="4647194" cy="29047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مزایا در </a:t>
            </a:r>
            <a:r>
              <a:rPr lang="en-US" sz="2600" b="1" dirty="0">
                <a:cs typeface="B Mitra" panose="00000400000000000000" pitchFamily="2" charset="-78"/>
              </a:rPr>
              <a:t>OCR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تشخیص و استخراج خودکار الگوهای تصویر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مقاومت در برابر تغییرات کوچک تصویر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دقت 95% در تشخیص کاراکتر عربی و فارسی</a:t>
            </a: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D830AF2-9B05-480D-B532-952A433A3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128" y="3413124"/>
            <a:ext cx="9906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386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شبکه عصبی بازگشتی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276088" y="1804416"/>
            <a:ext cx="5629658" cy="2904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افزوده شدن ترتیب و حافظه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کاربرد در موارد وابسته بودن احتمال </a:t>
            </a:r>
            <a:r>
              <a:rPr lang="fa-IR" sz="2400" dirty="0" err="1">
                <a:cs typeface="B Mitra" panose="00000400000000000000" pitchFamily="2" charset="-78"/>
              </a:rPr>
              <a:t>خروجی‌ها</a:t>
            </a:r>
            <a:r>
              <a:rPr lang="fa-IR" sz="2400" dirty="0">
                <a:cs typeface="B Mitra" panose="00000400000000000000" pitchFamily="2" charset="-78"/>
              </a:rPr>
              <a:t> نسبت به هم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مانند </a:t>
            </a:r>
            <a:r>
              <a:rPr lang="fa-IR" sz="2400" dirty="0" err="1">
                <a:cs typeface="B Mitra" panose="00000400000000000000" pitchFamily="2" charset="-78"/>
              </a:rPr>
              <a:t>دست‌خط</a:t>
            </a:r>
            <a:r>
              <a:rPr lang="fa-IR" sz="2400" dirty="0">
                <a:cs typeface="B Mitra" panose="00000400000000000000" pitchFamily="2" charset="-78"/>
              </a:rPr>
              <a:t> یا </a:t>
            </a:r>
            <a:r>
              <a:rPr lang="fa-IR" sz="2400" dirty="0" err="1">
                <a:cs typeface="B Mitra" panose="00000400000000000000" pitchFamily="2" charset="-78"/>
              </a:rPr>
              <a:t>سری‌های</a:t>
            </a:r>
            <a:r>
              <a:rPr lang="fa-IR" sz="2400" dirty="0">
                <a:cs typeface="B Mitra" panose="00000400000000000000" pitchFamily="2" charset="-78"/>
              </a:rPr>
              <a:t> زمانی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داده و حالت مخفی به عنوان ورودی هر واحد شبکه بازگشتی</a:t>
            </a: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32257" y="6181661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15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76C5E4AB-A90A-4F43-AF75-343C95060CAE}"/>
              </a:ext>
            </a:extLst>
          </p:cNvPr>
          <p:cNvSpPr txBox="1">
            <a:spLocks/>
          </p:cNvSpPr>
          <p:nvPr/>
        </p:nvSpPr>
        <p:spPr>
          <a:xfrm>
            <a:off x="-76202" y="1804416"/>
            <a:ext cx="4647194" cy="29047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مزایا در </a:t>
            </a:r>
            <a:r>
              <a:rPr lang="en-US" sz="2600" b="1" dirty="0">
                <a:cs typeface="B Mitra" panose="00000400000000000000" pitchFamily="2" charset="-78"/>
              </a:rPr>
              <a:t>OCR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مناسب برای تشخیص ترتیب حروف در دستخط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قابلیت ترکیب با شبکه </a:t>
            </a:r>
            <a:r>
              <a:rPr lang="fa-IR" sz="2400" dirty="0" err="1">
                <a:cs typeface="B Mitra" panose="00000400000000000000" pitchFamily="2" charset="-78"/>
              </a:rPr>
              <a:t>پیچشی</a:t>
            </a: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F6AF50CA-0910-4E6D-BF61-79131C9D5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857" y="3505200"/>
            <a:ext cx="10058400" cy="3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732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شبکه عصبی </a:t>
            </a:r>
            <a:r>
              <a:rPr lang="fa-IR" dirty="0" err="1">
                <a:cs typeface="B Titr" panose="00000700000000000000" pitchFamily="2" charset="-78"/>
              </a:rPr>
              <a:t>ترنسفورمری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276088" y="1804416"/>
            <a:ext cx="5629658" cy="34716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افزوده شدن موازی سازی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مکانیزم توجه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مکانیزم خود-توجه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معماری مبتنی بر </a:t>
            </a:r>
            <a:r>
              <a:rPr lang="fa-IR" sz="2400" dirty="0" err="1">
                <a:cs typeface="B Mitra" panose="00000400000000000000" pitchFamily="2" charset="-78"/>
              </a:rPr>
              <a:t>کدگذار-کدگشا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 err="1">
                <a:cs typeface="B Mitra" panose="00000400000000000000" pitchFamily="2" charset="-78"/>
              </a:rPr>
              <a:t>کدگذار</a:t>
            </a:r>
            <a:r>
              <a:rPr lang="fa-IR" sz="2400" dirty="0">
                <a:cs typeface="B Mitra" panose="00000400000000000000" pitchFamily="2" charset="-78"/>
              </a:rPr>
              <a:t> شامل </a:t>
            </a:r>
            <a:r>
              <a:rPr lang="fa-IR" sz="2400" dirty="0" err="1">
                <a:cs typeface="B Mitra" panose="00000400000000000000" pitchFamily="2" charset="-78"/>
              </a:rPr>
              <a:t>لایه‌های</a:t>
            </a:r>
            <a:r>
              <a:rPr lang="fa-IR" sz="2400" dirty="0">
                <a:cs typeface="B Mitra" panose="00000400000000000000" pitchFamily="2" charset="-78"/>
              </a:rPr>
              <a:t> خود-توجه و شبکه </a:t>
            </a:r>
            <a:r>
              <a:rPr lang="fa-IR" sz="2400" dirty="0" err="1">
                <a:cs typeface="B Mitra" panose="00000400000000000000" pitchFamily="2" charset="-78"/>
              </a:rPr>
              <a:t>پیش‌خور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شبکه </a:t>
            </a:r>
            <a:r>
              <a:rPr lang="fa-IR" sz="2400" dirty="0" err="1">
                <a:cs typeface="B Mitra" panose="00000400000000000000" pitchFamily="2" charset="-78"/>
              </a:rPr>
              <a:t>پیش‌خور</a:t>
            </a:r>
            <a:r>
              <a:rPr lang="fa-IR" sz="2400" dirty="0">
                <a:cs typeface="B Mitra" panose="00000400000000000000" pitchFamily="2" charset="-78"/>
              </a:rPr>
              <a:t> برای افزایش توانایی مدل در فهم</a:t>
            </a:r>
            <a:br>
              <a:rPr lang="en-US" sz="2400" dirty="0">
                <a:cs typeface="B Mitra" panose="00000400000000000000" pitchFamily="2" charset="-78"/>
              </a:rPr>
            </a:br>
            <a:r>
              <a:rPr lang="fa-IR" sz="2400" dirty="0">
                <a:cs typeface="B Mitra" panose="00000400000000000000" pitchFamily="2" charset="-78"/>
              </a:rPr>
              <a:t> الگوهای </a:t>
            </a:r>
            <a:r>
              <a:rPr lang="fa-IR" sz="2400" dirty="0" err="1">
                <a:cs typeface="B Mitra" panose="00000400000000000000" pitchFamily="2" charset="-78"/>
              </a:rPr>
              <a:t>پیچیده‌تر</a:t>
            </a: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48546" y="6266121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16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76C5E4AB-A90A-4F43-AF75-343C95060CAE}"/>
              </a:ext>
            </a:extLst>
          </p:cNvPr>
          <p:cNvSpPr txBox="1">
            <a:spLocks/>
          </p:cNvSpPr>
          <p:nvPr/>
        </p:nvSpPr>
        <p:spPr>
          <a:xfrm>
            <a:off x="-76202" y="1709928"/>
            <a:ext cx="4647194" cy="29992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مزایا در </a:t>
            </a:r>
            <a:r>
              <a:rPr lang="en-US" sz="2600" b="1" dirty="0">
                <a:cs typeface="B Mitra" panose="00000400000000000000" pitchFamily="2" charset="-78"/>
              </a:rPr>
              <a:t>OCR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ساختار موازی پردازش ورودی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حفظ ترتیب و وابستگی بین </a:t>
            </a:r>
            <a:r>
              <a:rPr lang="fa-IR" sz="2400" dirty="0" err="1">
                <a:cs typeface="B Mitra" panose="00000400000000000000" pitchFamily="2" charset="-78"/>
              </a:rPr>
              <a:t>خروجی‌ها</a:t>
            </a: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3076" name="Picture 4" descr="Foundation Models, Transformers, BERT and GPT | Niklas Heidloff">
            <a:extLst>
              <a:ext uri="{FF2B5EF4-FFF2-40B4-BE49-F238E27FC236}">
                <a16:creationId xmlns:a16="http://schemas.microsoft.com/office/drawing/2014/main" id="{41F76D14-9446-4795-854C-79D15C9D7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38814"/>
            <a:ext cx="5934456" cy="3919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928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30752" y="544285"/>
            <a:ext cx="7697710" cy="3445329"/>
          </a:xfrm>
        </p:spPr>
        <p:txBody>
          <a:bodyPr>
            <a:normAutofit/>
          </a:bodyPr>
          <a:lstStyle/>
          <a:p>
            <a:pPr algn="ctr" rtl="1"/>
            <a:r>
              <a:rPr lang="fa-IR" dirty="0">
                <a:cs typeface="B Titr" panose="00000700000000000000" pitchFamily="2" charset="-78"/>
              </a:rPr>
              <a:t>مدل انتخابی و کارهای انجام شده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B Titr" panose="00000700000000000000" pitchFamily="2" charset="-78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896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مدل </a:t>
            </a:r>
            <a:r>
              <a:rPr lang="fa-IR" dirty="0" err="1">
                <a:cs typeface="B Titr" panose="00000700000000000000" pitchFamily="2" charset="-78"/>
              </a:rPr>
              <a:t>ترنسفورمر</a:t>
            </a:r>
            <a:r>
              <a:rPr lang="fa-IR" dirty="0">
                <a:cs typeface="B Titr" panose="00000700000000000000" pitchFamily="2" charset="-78"/>
              </a:rPr>
              <a:t> صرفا </a:t>
            </a:r>
            <a:r>
              <a:rPr lang="fa-IR" dirty="0" err="1">
                <a:cs typeface="B Titr" panose="00000700000000000000" pitchFamily="2" charset="-78"/>
              </a:rPr>
              <a:t>کدگشا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4187952" y="1804416"/>
            <a:ext cx="6717794" cy="34716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rtl="1"/>
            <a:r>
              <a:rPr lang="en-US" sz="2600" b="1" dirty="0" err="1">
                <a:cs typeface="B Mitra" panose="00000400000000000000" pitchFamily="2" charset="-78"/>
              </a:rPr>
              <a:t>DTrOCR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یک </a:t>
            </a:r>
            <a:r>
              <a:rPr lang="fa-IR" sz="2400" dirty="0" err="1">
                <a:cs typeface="B Mitra" panose="00000400000000000000" pitchFamily="2" charset="-78"/>
              </a:rPr>
              <a:t>ترنسفورمر</a:t>
            </a:r>
            <a:r>
              <a:rPr lang="fa-IR" sz="2400" dirty="0">
                <a:cs typeface="B Mitra" panose="00000400000000000000" pitchFamily="2" charset="-78"/>
              </a:rPr>
              <a:t> صرفا </a:t>
            </a:r>
            <a:r>
              <a:rPr lang="fa-IR" sz="2400" dirty="0" err="1">
                <a:cs typeface="B Mitra" panose="00000400000000000000" pitchFamily="2" charset="-78"/>
              </a:rPr>
              <a:t>کدگشا</a:t>
            </a:r>
            <a:r>
              <a:rPr lang="fa-IR" sz="2400" dirty="0">
                <a:cs typeface="B Mitra" panose="00000400000000000000" pitchFamily="2" charset="-78"/>
              </a:rPr>
              <a:t>، بدون نیاز به </a:t>
            </a:r>
            <a:r>
              <a:rPr lang="fa-IR" sz="2400" dirty="0" err="1">
                <a:cs typeface="B Mitra" panose="00000400000000000000" pitchFamily="2" charset="-78"/>
              </a:rPr>
              <a:t>کدگذار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رفع نیاز به </a:t>
            </a:r>
            <a:r>
              <a:rPr lang="fa-IR" sz="2400" dirty="0" err="1">
                <a:cs typeface="B Mitra" panose="00000400000000000000" pitchFamily="2" charset="-78"/>
              </a:rPr>
              <a:t>کدگذار</a:t>
            </a:r>
            <a:endParaRPr lang="en-US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18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76C5E4AB-A90A-4F43-AF75-343C95060CAE}"/>
              </a:ext>
            </a:extLst>
          </p:cNvPr>
          <p:cNvSpPr txBox="1">
            <a:spLocks/>
          </p:cNvSpPr>
          <p:nvPr/>
        </p:nvSpPr>
        <p:spPr>
          <a:xfrm>
            <a:off x="53325" y="1527048"/>
            <a:ext cx="4647194" cy="29992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مزایا در </a:t>
            </a:r>
            <a:r>
              <a:rPr lang="en-US" sz="2600" b="1" dirty="0">
                <a:cs typeface="B Mitra" panose="00000400000000000000" pitchFamily="2" charset="-78"/>
              </a:rPr>
              <a:t>OCR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ساختار </a:t>
            </a:r>
            <a:r>
              <a:rPr lang="fa-IR" sz="2400" dirty="0" err="1">
                <a:cs typeface="B Mitra" panose="00000400000000000000" pitchFamily="2" charset="-78"/>
              </a:rPr>
              <a:t>سبک‌تر</a:t>
            </a:r>
            <a:r>
              <a:rPr lang="fa-IR" sz="2400" dirty="0">
                <a:cs typeface="B Mitra" panose="00000400000000000000" pitchFamily="2" charset="-78"/>
              </a:rPr>
              <a:t> و در عین حال موثرتر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دانش زبانی </a:t>
            </a:r>
            <a:r>
              <a:rPr lang="en-US" sz="2400" dirty="0">
                <a:cs typeface="B Mitra" panose="00000400000000000000" pitchFamily="2" charset="-78"/>
              </a:rPr>
              <a:t> GPT-2</a:t>
            </a: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4098" name="Picture 2" descr="logo">
            <a:extLst>
              <a:ext uri="{FF2B5EF4-FFF2-40B4-BE49-F238E27FC236}">
                <a16:creationId xmlns:a16="http://schemas.microsoft.com/office/drawing/2014/main" id="{22A3D90F-1442-4527-964F-3107C3C53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25" y="2785872"/>
            <a:ext cx="6528816" cy="3264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8854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معماری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19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F28CEB-1330-4361-861F-4F1FC95E684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027176"/>
            <a:ext cx="5547995" cy="4599432"/>
          </a:xfrm>
          <a:prstGeom prst="rect">
            <a:avLst/>
          </a:prstGeom>
        </p:spPr>
      </p:pic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848829A5-551B-427A-B3FC-16B0616912DF}"/>
              </a:ext>
            </a:extLst>
          </p:cNvPr>
          <p:cNvSpPr txBox="1">
            <a:spLocks/>
          </p:cNvSpPr>
          <p:nvPr/>
        </p:nvSpPr>
        <p:spPr>
          <a:xfrm>
            <a:off x="5769864" y="1804416"/>
            <a:ext cx="5135882" cy="40751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نحوه کارکرد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Patch Embedding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</a:t>
            </a:r>
            <a:r>
              <a:rPr lang="en-US" sz="2400" dirty="0">
                <a:cs typeface="B Mitra" panose="00000400000000000000" pitchFamily="2" charset="-78"/>
              </a:rPr>
              <a:t>vision </a:t>
            </a:r>
            <a:r>
              <a:rPr lang="en-US" sz="2400" dirty="0" err="1">
                <a:cs typeface="B Mitra" panose="00000400000000000000" pitchFamily="2" charset="-78"/>
              </a:rPr>
              <a:t>transforer</a:t>
            </a:r>
            <a:r>
              <a:rPr lang="fa-IR" sz="2400" dirty="0">
                <a:cs typeface="B Mitra" panose="00000400000000000000" pitchFamily="2" charset="-78"/>
              </a:rPr>
              <a:t> برای تولید </a:t>
            </a:r>
            <a:r>
              <a:rPr lang="en-US" sz="2400" dirty="0">
                <a:cs typeface="B Mitra" panose="00000400000000000000" pitchFamily="2" charset="-78"/>
              </a:rPr>
              <a:t>patch embeddings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افزودن </a:t>
            </a:r>
            <a:r>
              <a:rPr lang="en-US" sz="2400" dirty="0">
                <a:cs typeface="B Mitra" panose="00000400000000000000" pitchFamily="2" charset="-78"/>
              </a:rPr>
              <a:t>positional embedding</a:t>
            </a:r>
            <a:r>
              <a:rPr lang="fa-IR" sz="2400" dirty="0">
                <a:cs typeface="B Mitra" panose="00000400000000000000" pitchFamily="2" charset="-78"/>
              </a:rPr>
              <a:t> به توالی </a:t>
            </a:r>
            <a:r>
              <a:rPr lang="fa-IR" sz="2400" dirty="0" err="1">
                <a:cs typeface="B Mitra" panose="00000400000000000000" pitchFamily="2" charset="-78"/>
              </a:rPr>
              <a:t>توکن‌ها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</a:t>
            </a:r>
            <a:r>
              <a:rPr lang="en-US" sz="2400" dirty="0">
                <a:cs typeface="B Mitra" panose="00000400000000000000" pitchFamily="2" charset="-78"/>
              </a:rPr>
              <a:t>beam search</a:t>
            </a:r>
            <a:r>
              <a:rPr lang="fa-IR" sz="2400" dirty="0">
                <a:cs typeface="B Mitra" panose="00000400000000000000" pitchFamily="2" charset="-78"/>
              </a:rPr>
              <a:t> برای تولید خروجی نهایی</a:t>
            </a: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5719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معماری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20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F28CEB-1330-4361-861F-4F1FC95E684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051561"/>
            <a:ext cx="5547995" cy="4599432"/>
          </a:xfrm>
          <a:prstGeom prst="rect">
            <a:avLst/>
          </a:prstGeom>
        </p:spPr>
      </p:pic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848829A5-551B-427A-B3FC-16B0616912DF}"/>
              </a:ext>
            </a:extLst>
          </p:cNvPr>
          <p:cNvSpPr txBox="1">
            <a:spLocks/>
          </p:cNvSpPr>
          <p:nvPr/>
        </p:nvSpPr>
        <p:spPr>
          <a:xfrm>
            <a:off x="5769864" y="1804416"/>
            <a:ext cx="5135882" cy="40751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معماری </a:t>
            </a:r>
            <a:r>
              <a:rPr lang="fa-IR" sz="2600" b="1" dirty="0" err="1">
                <a:cs typeface="B Mitra" panose="00000400000000000000" pitchFamily="2" charset="-78"/>
              </a:rPr>
              <a:t>کدگشا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تشکیل شده از چندین لایه </a:t>
            </a:r>
            <a:r>
              <a:rPr lang="fa-IR" sz="2400" dirty="0" err="1">
                <a:cs typeface="B Mitra" panose="00000400000000000000" pitchFamily="2" charset="-78"/>
              </a:rPr>
              <a:t>ترنسفورمر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هر لایه شامل مکانیزم خود توجه چند سر ماسک شده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و شبکه </a:t>
            </a:r>
            <a:r>
              <a:rPr lang="fa-IR" sz="2400" dirty="0" err="1">
                <a:cs typeface="B Mitra" panose="00000400000000000000" pitchFamily="2" charset="-78"/>
              </a:rPr>
              <a:t>پیش‌خور</a:t>
            </a: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404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پیاده سازی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295" y="6096000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21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848829A5-551B-427A-B3FC-16B0616912DF}"/>
              </a:ext>
            </a:extLst>
          </p:cNvPr>
          <p:cNvSpPr txBox="1">
            <a:spLocks/>
          </p:cNvSpPr>
          <p:nvPr/>
        </p:nvSpPr>
        <p:spPr>
          <a:xfrm>
            <a:off x="5769864" y="1804416"/>
            <a:ext cx="5135882" cy="40751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مجموعه داده 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پیش آموزش با داده مصنوعی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تنظیم دقیق با مجموعه واقعی </a:t>
            </a:r>
            <a:r>
              <a:rPr lang="en-US" sz="2400" dirty="0">
                <a:cs typeface="B Mitra" panose="00000400000000000000" pitchFamily="2" charset="-78"/>
              </a:rPr>
              <a:t>IAM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657 نویسنده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115300 کلمه برچسب دار</a:t>
            </a: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E1FC69-5EEB-4906-A378-64E3F87F8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76" y="3145934"/>
            <a:ext cx="5906324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944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آزمایشات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22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graphicFrame>
        <p:nvGraphicFramePr>
          <p:cNvPr id="6" name="Table Placeholder 13">
            <a:extLst>
              <a:ext uri="{FF2B5EF4-FFF2-40B4-BE49-F238E27FC236}">
                <a16:creationId xmlns:a16="http://schemas.microsoft.com/office/drawing/2014/main" id="{CCAE2033-4BEA-4781-914D-4533610D8A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01453657"/>
              </p:ext>
            </p:extLst>
          </p:nvPr>
        </p:nvGraphicFramePr>
        <p:xfrm>
          <a:off x="219456" y="1215424"/>
          <a:ext cx="8446009" cy="5149529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2223512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963888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723404">
                  <a:extLst>
                    <a:ext uri="{9D8B030D-6E8A-4147-A177-3AD203B41FA5}">
                      <a16:colId xmlns:a16="http://schemas.microsoft.com/office/drawing/2014/main" val="4278473568"/>
                    </a:ext>
                  </a:extLst>
                </a:gridCol>
                <a:gridCol w="1511735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  <a:gridCol w="1511735">
                  <a:extLst>
                    <a:ext uri="{9D8B030D-6E8A-4147-A177-3AD203B41FA5}">
                      <a16:colId xmlns:a16="http://schemas.microsoft.com/office/drawing/2014/main" val="3205989535"/>
                    </a:ext>
                  </a:extLst>
                </a:gridCol>
                <a:gridCol w="1511735">
                  <a:extLst>
                    <a:ext uri="{9D8B030D-6E8A-4147-A177-3AD203B41FA5}">
                      <a16:colId xmlns:a16="http://schemas.microsoft.com/office/drawing/2014/main" val="2031881689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روش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نوع داده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SVT​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IC13​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IC15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CRNN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مصنوعی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80.1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89.4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60.4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61.5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ABINet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واقعی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97.8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88.5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97.7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TrOCR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 base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مصنوعی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78.0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86.8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Mask 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مصنوعی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89.2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074674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مصنوعی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97.6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4968509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واقعی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99.1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93.2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99.1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6656930"/>
                  </a:ext>
                </a:extLst>
              </a:tr>
            </a:tbl>
          </a:graphicData>
        </a:graphic>
      </p:graphicFrame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CF790E7-921B-4940-9AA1-D53B9F762285}"/>
              </a:ext>
            </a:extLst>
          </p:cNvPr>
          <p:cNvSpPr txBox="1">
            <a:spLocks/>
          </p:cNvSpPr>
          <p:nvPr/>
        </p:nvSpPr>
        <p:spPr>
          <a:xfrm>
            <a:off x="8521700" y="1804416"/>
            <a:ext cx="2781300" cy="28564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en-US" sz="2600" b="1" dirty="0">
                <a:cs typeface="B Mitra" panose="00000400000000000000" pitchFamily="2" charset="-78"/>
              </a:rPr>
              <a:t>word accuracy</a:t>
            </a:r>
            <a:endParaRPr lang="en-US" dirty="0">
              <a:cs typeface="B Titr" panose="000007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1862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آزمایشات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23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graphicFrame>
        <p:nvGraphicFramePr>
          <p:cNvPr id="6" name="Table Placeholder 13">
            <a:extLst>
              <a:ext uri="{FF2B5EF4-FFF2-40B4-BE49-F238E27FC236}">
                <a16:creationId xmlns:a16="http://schemas.microsoft.com/office/drawing/2014/main" id="{CCAE2033-4BEA-4781-914D-4533610D8A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40996"/>
              </p:ext>
            </p:extLst>
          </p:nvPr>
        </p:nvGraphicFramePr>
        <p:xfrm>
          <a:off x="219456" y="1215424"/>
          <a:ext cx="7832344" cy="5149529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3211652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1392245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1575473">
                  <a:extLst>
                    <a:ext uri="{9D8B030D-6E8A-4147-A177-3AD203B41FA5}">
                      <a16:colId xmlns:a16="http://schemas.microsoft.com/office/drawing/2014/main" val="4278473568"/>
                    </a:ext>
                  </a:extLst>
                </a:gridCol>
                <a:gridCol w="1652974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روش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Recall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precision​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F1 score​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CRNN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28.71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48.58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36.09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H&amp;H Lab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96.43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MSOLab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94.77​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CLOVA 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94.30​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94.59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074674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96.58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4968509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98.37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6656930"/>
                  </a:ext>
                </a:extLst>
              </a:tr>
            </a:tbl>
          </a:graphicData>
        </a:graphic>
      </p:graphicFrame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CF790E7-921B-4940-9AA1-D53B9F762285}"/>
              </a:ext>
            </a:extLst>
          </p:cNvPr>
          <p:cNvSpPr txBox="1">
            <a:spLocks/>
          </p:cNvSpPr>
          <p:nvPr/>
        </p:nvSpPr>
        <p:spPr>
          <a:xfrm>
            <a:off x="8153400" y="1804416"/>
            <a:ext cx="3149600" cy="28564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 algn="r" rtl="1">
              <a:buFont typeface="Arial" panose="020B0604020202020204" pitchFamily="34" charset="0"/>
              <a:buNone/>
            </a:pPr>
            <a:r>
              <a:rPr lang="fa-IR" sz="2400" dirty="0">
                <a:cs typeface="B Mitra" panose="00000400000000000000" pitchFamily="2" charset="-78"/>
              </a:rPr>
              <a:t>مربوط به تشخیص متن </a:t>
            </a:r>
            <a:r>
              <a:rPr lang="fa-IR" sz="2400" dirty="0" err="1">
                <a:cs typeface="B Mitra" panose="00000400000000000000" pitchFamily="2" charset="-78"/>
              </a:rPr>
              <a:t>رسیدها</a:t>
            </a:r>
            <a:endParaRPr lang="en-US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r>
              <a:rPr lang="fa-IR" sz="2400" dirty="0">
                <a:cs typeface="B Mitra" panose="00000400000000000000" pitchFamily="2" charset="-78"/>
              </a:rPr>
              <a:t>626 تصویر رسید </a:t>
            </a:r>
            <a:r>
              <a:rPr lang="fa-IR" sz="2400" dirty="0" err="1">
                <a:cs typeface="B Mitra" panose="00000400000000000000" pitchFamily="2" charset="-78"/>
              </a:rPr>
              <a:t>فروشگاهی</a:t>
            </a: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504375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آزمایشات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24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graphicFrame>
        <p:nvGraphicFramePr>
          <p:cNvPr id="6" name="Table Placeholder 13">
            <a:extLst>
              <a:ext uri="{FF2B5EF4-FFF2-40B4-BE49-F238E27FC236}">
                <a16:creationId xmlns:a16="http://schemas.microsoft.com/office/drawing/2014/main" id="{CCAE2033-4BEA-4781-914D-4533610D8A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09335425"/>
              </p:ext>
            </p:extLst>
          </p:nvPr>
        </p:nvGraphicFramePr>
        <p:xfrm>
          <a:off x="219456" y="1215424"/>
          <a:ext cx="7933944" cy="5149529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2714244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3123668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2096032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روش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استفاده از مدل زبانی خارجی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CER​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sz="1800" b="0" i="0" dirty="0" err="1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Bluche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3.2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Michael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4.87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Wang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no​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6.4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Kang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no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4.67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074674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4968509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6656930"/>
                  </a:ext>
                </a:extLst>
              </a:tr>
            </a:tbl>
          </a:graphicData>
        </a:graphic>
      </p:graphicFrame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CF790E7-921B-4940-9AA1-D53B9F762285}"/>
              </a:ext>
            </a:extLst>
          </p:cNvPr>
          <p:cNvSpPr txBox="1">
            <a:spLocks/>
          </p:cNvSpPr>
          <p:nvPr/>
        </p:nvSpPr>
        <p:spPr>
          <a:xfrm>
            <a:off x="8153400" y="1804416"/>
            <a:ext cx="3149600" cy="28564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 algn="r" rtl="1">
              <a:buFont typeface="Arial" panose="020B0604020202020204" pitchFamily="34" charset="0"/>
              <a:buNone/>
            </a:pPr>
            <a:r>
              <a:rPr lang="fa-IR" sz="2400" dirty="0">
                <a:cs typeface="B Mitra" panose="00000400000000000000" pitchFamily="2" charset="-78"/>
              </a:rPr>
              <a:t>معیار </a:t>
            </a:r>
            <a:r>
              <a:rPr lang="en-US" sz="2400" dirty="0">
                <a:cs typeface="B Mitra" panose="00000400000000000000" pitchFamily="2" charset="-78"/>
              </a:rPr>
              <a:t>CER</a:t>
            </a:r>
            <a:r>
              <a:rPr lang="fa-IR" sz="2400" dirty="0">
                <a:cs typeface="B Mitra" panose="00000400000000000000" pitchFamily="2" charset="-78"/>
              </a:rPr>
              <a:t> برای تنظیم دقیق با مجموعه داده </a:t>
            </a:r>
            <a:r>
              <a:rPr lang="en-US" sz="2400" dirty="0">
                <a:cs typeface="B Mitra" panose="00000400000000000000" pitchFamily="2" charset="-78"/>
              </a:rPr>
              <a:t>IAM</a:t>
            </a: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67415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آزمایشات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25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CF790E7-921B-4940-9AA1-D53B9F762285}"/>
              </a:ext>
            </a:extLst>
          </p:cNvPr>
          <p:cNvSpPr txBox="1">
            <a:spLocks/>
          </p:cNvSpPr>
          <p:nvPr/>
        </p:nvSpPr>
        <p:spPr>
          <a:xfrm>
            <a:off x="8153400" y="1804416"/>
            <a:ext cx="3149600" cy="28564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تنظیم دقیق با </a:t>
            </a:r>
            <a:r>
              <a:rPr lang="en-US" sz="2600" b="1" dirty="0">
                <a:cs typeface="B Mitra" panose="00000400000000000000" pitchFamily="2" charset="-78"/>
              </a:rPr>
              <a:t>IAM</a:t>
            </a:r>
            <a:endParaRPr lang="en-US" dirty="0">
              <a:cs typeface="B Titr" panose="000007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A69AFC-61E7-4F6E-ADCD-1ADB8EA2C57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9872" y="1136206"/>
            <a:ext cx="5547995" cy="4521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3243564-ADEF-4B2F-99E3-D1D38DD6CBD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900105" y="1586992"/>
            <a:ext cx="2486660" cy="18776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900D40-7EC8-4D69-90F9-BE7B7F9736FA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900105" y="3621246"/>
            <a:ext cx="5160960" cy="14688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F641E8-A661-4B20-8179-0FE083EBA499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5900105" y="5170487"/>
            <a:ext cx="3675698" cy="1669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941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 err="1">
                <a:cs typeface="B Titr" panose="00000700000000000000" pitchFamily="2" charset="-78"/>
              </a:rPr>
              <a:t>ایده‌ها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26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20C2862A-AD1B-43E8-A0A1-BAAA6F69C387}"/>
              </a:ext>
            </a:extLst>
          </p:cNvPr>
          <p:cNvSpPr txBox="1">
            <a:spLocks/>
          </p:cNvSpPr>
          <p:nvPr/>
        </p:nvSpPr>
        <p:spPr>
          <a:xfrm>
            <a:off x="5617464" y="1752600"/>
            <a:ext cx="5135882" cy="40751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ترکیب با </a:t>
            </a:r>
            <a:r>
              <a:rPr lang="en-US" sz="2600" b="1" dirty="0">
                <a:cs typeface="B Mitra" panose="00000400000000000000" pitchFamily="2" charset="-78"/>
              </a:rPr>
              <a:t>RNNT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افزودن </a:t>
            </a:r>
            <a:r>
              <a:rPr lang="en-US" sz="2400" dirty="0">
                <a:cs typeface="B Mitra" panose="00000400000000000000" pitchFamily="2" charset="-78"/>
              </a:rPr>
              <a:t>prediction network</a:t>
            </a:r>
            <a:r>
              <a:rPr lang="fa-IR" sz="2400" dirty="0">
                <a:cs typeface="B Mitra" panose="00000400000000000000" pitchFamily="2" charset="-78"/>
              </a:rPr>
              <a:t> 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افزودن </a:t>
            </a:r>
            <a:r>
              <a:rPr lang="en-US" sz="2400" dirty="0">
                <a:cs typeface="B Mitra" panose="00000400000000000000" pitchFamily="2" charset="-78"/>
              </a:rPr>
              <a:t>joint network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افزایش پنجاه میلیونی تعداد </a:t>
            </a:r>
            <a:r>
              <a:rPr lang="fa-IR" sz="2400" dirty="0" err="1">
                <a:cs typeface="B Mitra" panose="00000400000000000000" pitchFamily="2" charset="-78"/>
              </a:rPr>
              <a:t>پارامترها</a:t>
            </a: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26669F9-92F5-4DA2-9BE7-AE764EBD64F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43136" y="493776"/>
            <a:ext cx="5333365" cy="5747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12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 err="1">
                <a:cs typeface="B Titr" panose="00000700000000000000" pitchFamily="2" charset="-78"/>
              </a:rPr>
              <a:t>ایده‌ها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27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20C2862A-AD1B-43E8-A0A1-BAAA6F69C387}"/>
              </a:ext>
            </a:extLst>
          </p:cNvPr>
          <p:cNvSpPr txBox="1">
            <a:spLocks/>
          </p:cNvSpPr>
          <p:nvPr/>
        </p:nvSpPr>
        <p:spPr>
          <a:xfrm>
            <a:off x="4572000" y="1752600"/>
            <a:ext cx="6181346" cy="40751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تغییر </a:t>
            </a:r>
            <a:r>
              <a:rPr lang="en-US" sz="2600" b="1" dirty="0">
                <a:cs typeface="B Mitra" panose="00000400000000000000" pitchFamily="2" charset="-78"/>
              </a:rPr>
              <a:t>vision transformer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مدل از پیش آموزش دیده </a:t>
            </a:r>
            <a:r>
              <a:rPr lang="en-US" sz="2400" dirty="0" err="1">
                <a:cs typeface="B Mitra" panose="00000400000000000000" pitchFamily="2" charset="-78"/>
              </a:rPr>
              <a:t>qwen</a:t>
            </a:r>
            <a:r>
              <a:rPr lang="fa-IR" sz="2400" dirty="0">
                <a:cs typeface="B Mitra" panose="00000400000000000000" pitchFamily="2" charset="-78"/>
              </a:rPr>
              <a:t>، یک </a:t>
            </a:r>
            <a:r>
              <a:rPr lang="en-US" sz="2400" dirty="0">
                <a:cs typeface="B Mitra" panose="00000400000000000000" pitchFamily="2" charset="-78"/>
              </a:rPr>
              <a:t>VL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مدل از پیش آموزش دیده </a:t>
            </a:r>
            <a:r>
              <a:rPr lang="en-US" sz="2400" dirty="0" err="1">
                <a:cs typeface="B Mitra" panose="00000400000000000000" pitchFamily="2" charset="-78"/>
              </a:rPr>
              <a:t>dino</a:t>
            </a:r>
            <a:r>
              <a:rPr lang="fa-IR" sz="2400" dirty="0">
                <a:cs typeface="B Mitra" panose="00000400000000000000" pitchFamily="2" charset="-78"/>
              </a:rPr>
              <a:t>، یک </a:t>
            </a:r>
            <a:r>
              <a:rPr lang="en-US" sz="2400" dirty="0">
                <a:cs typeface="B Mitra" panose="00000400000000000000" pitchFamily="2" charset="-78"/>
              </a:rPr>
              <a:t>VIT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استفاده از مدل از پیش آموزش دیده </a:t>
            </a:r>
            <a:r>
              <a:rPr lang="en-US" sz="2400" dirty="0" err="1">
                <a:cs typeface="B Mitra" panose="00000400000000000000" pitchFamily="2" charset="-78"/>
              </a:rPr>
              <a:t>florence</a:t>
            </a:r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01545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1356" y="198552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جزییات امور انجام شده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28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graphicFrame>
        <p:nvGraphicFramePr>
          <p:cNvPr id="6" name="Table Placeholder 13">
            <a:extLst>
              <a:ext uri="{FF2B5EF4-FFF2-40B4-BE49-F238E27FC236}">
                <a16:creationId xmlns:a16="http://schemas.microsoft.com/office/drawing/2014/main" id="{CCAE2033-4BEA-4781-914D-4533610D8A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85798428"/>
              </p:ext>
            </p:extLst>
          </p:nvPr>
        </p:nvGraphicFramePr>
        <p:xfrm>
          <a:off x="219456" y="1215424"/>
          <a:ext cx="10931144" cy="5148798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822147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1216949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1682000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  <a:gridCol w="1035008">
                  <a:extLst>
                    <a:ext uri="{9D8B030D-6E8A-4147-A177-3AD203B41FA5}">
                      <a16:colId xmlns:a16="http://schemas.microsoft.com/office/drawing/2014/main" val="1354574054"/>
                    </a:ext>
                  </a:extLst>
                </a:gridCol>
                <a:gridCol w="1035008">
                  <a:extLst>
                    <a:ext uri="{9D8B030D-6E8A-4147-A177-3AD203B41FA5}">
                      <a16:colId xmlns:a16="http://schemas.microsoft.com/office/drawing/2014/main" val="209547002"/>
                    </a:ext>
                  </a:extLst>
                </a:gridCol>
                <a:gridCol w="1117432">
                  <a:extLst>
                    <a:ext uri="{9D8B030D-6E8A-4147-A177-3AD203B41FA5}">
                      <a16:colId xmlns:a16="http://schemas.microsoft.com/office/drawing/2014/main" val="1343623022"/>
                    </a:ext>
                  </a:extLst>
                </a:gridCol>
                <a:gridCol w="952584">
                  <a:extLst>
                    <a:ext uri="{9D8B030D-6E8A-4147-A177-3AD203B41FA5}">
                      <a16:colId xmlns:a16="http://schemas.microsoft.com/office/drawing/2014/main" val="343888936"/>
                    </a:ext>
                  </a:extLst>
                </a:gridCol>
                <a:gridCol w="990516">
                  <a:extLst>
                    <a:ext uri="{9D8B030D-6E8A-4147-A177-3AD203B41FA5}">
                      <a16:colId xmlns:a16="http://schemas.microsoft.com/office/drawing/2014/main" val="1322669973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1882505828"/>
                    </a:ext>
                  </a:extLst>
                </a:gridCol>
              </a:tblGrid>
              <a:tr h="1025133"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روش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fa-IR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مجموعه داده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fa-IR" sz="1800" b="1" dirty="0" err="1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کدگذار</a:t>
                      </a:r>
                      <a:r>
                        <a:rPr lang="fa-IR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 بصری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​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fa-IR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تعداد پارامتر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fa-IR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پارامتر </a:t>
                      </a:r>
                      <a:r>
                        <a:rPr lang="fa-IR" b="1" i="0" dirty="0" err="1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کدگذار</a:t>
                      </a:r>
                      <a:r>
                        <a:rPr lang="fa-IR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 بصری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fa-IR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اندازه تصویر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device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b="1" i="0" dirty="0" err="1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presicion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824733">
                <a:tc>
                  <a:txBody>
                    <a:bodyPr/>
                    <a:lstStyle/>
                    <a:p>
                      <a:pPr algn="ctr" rtl="1" fontAlgn="base"/>
                      <a:r>
                        <a:rPr lang="en-US" b="0" i="0" dirty="0" err="1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 original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IAM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Vit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160M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86M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32*128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GPU 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4.5G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  <a:cs typeface="B Mitra" panose="00000400000000000000" pitchFamily="2" charset="-78"/>
                        </a:rPr>
                        <a:t>73%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824733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 + RNNT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IAM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Vit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211M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86M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32*128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GPU 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5G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824733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IAM​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Qwen-VL2B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2.2B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224*224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GPU 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12G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  <a:tr h="824733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IAM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Dino-vit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250M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70M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224*224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GPU 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3G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074674"/>
                  </a:ext>
                </a:extLst>
              </a:tr>
              <a:tr h="824733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 err="1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DTrOCR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  <a:cs typeface="B Mitra" panose="00000400000000000000" pitchFamily="2" charset="-7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IAM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Florence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1B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771M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224*224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GPU T4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6G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  <a:cs typeface="B Mitra" panose="00000400000000000000" pitchFamily="2" charset="-78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4968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02730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30752" y="544285"/>
            <a:ext cx="7697710" cy="3445329"/>
          </a:xfrm>
        </p:spPr>
        <p:txBody>
          <a:bodyPr>
            <a:normAutofit/>
          </a:bodyPr>
          <a:lstStyle/>
          <a:p>
            <a:pPr algn="ctr" rtl="1"/>
            <a:r>
              <a:rPr lang="fa-IR" dirty="0">
                <a:cs typeface="B Titr" panose="00000700000000000000" pitchFamily="2" charset="-78"/>
              </a:rPr>
              <a:t>جمع بندی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B Titr" panose="00000700000000000000" pitchFamily="2" charset="-78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1252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493776"/>
            <a:ext cx="9389288" cy="722376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جمع بندی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4536" y="6364224"/>
            <a:ext cx="457200" cy="365125"/>
          </a:xfrm>
        </p:spPr>
        <p:txBody>
          <a:bodyPr/>
          <a:lstStyle/>
          <a:p>
            <a:pPr algn="l" rtl="1"/>
            <a:fld id="{B5CEABB6-07DC-46E8-9B57-56EC44A396E5}" type="slidenum">
              <a:rPr lang="en-US" smtClean="0">
                <a:solidFill>
                  <a:schemeClr val="tx1"/>
                </a:solidFill>
                <a:cs typeface="B Titr" panose="00000700000000000000" pitchFamily="2" charset="-78"/>
              </a:rPr>
              <a:pPr algn="l" rtl="1"/>
              <a:t>30</a:t>
            </a:fld>
            <a:endParaRPr lang="en-US" dirty="0">
              <a:solidFill>
                <a:schemeClr val="tx1"/>
              </a:solidFill>
              <a:cs typeface="B Titr" panose="00000700000000000000" pitchFamily="2" charset="-78"/>
            </a:endParaRP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20C2862A-AD1B-43E8-A0A1-BAAA6F69C387}"/>
              </a:ext>
            </a:extLst>
          </p:cNvPr>
          <p:cNvSpPr txBox="1">
            <a:spLocks/>
          </p:cNvSpPr>
          <p:nvPr/>
        </p:nvSpPr>
        <p:spPr>
          <a:xfrm>
            <a:off x="4572000" y="1752599"/>
            <a:ext cx="6181346" cy="49767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هدف از پژوهش</a:t>
            </a:r>
          </a:p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مقدمه ای بر شبکه عصبی</a:t>
            </a:r>
          </a:p>
          <a:p>
            <a:pPr algn="r" rtl="1"/>
            <a:r>
              <a:rPr lang="fa-IR" sz="2600" b="1" dirty="0">
                <a:cs typeface="B Mitra" panose="00000400000000000000" pitchFamily="2" charset="-78"/>
              </a:rPr>
              <a:t>بررسی </a:t>
            </a:r>
            <a:r>
              <a:rPr lang="fa-IR" sz="2600" b="1" dirty="0" err="1">
                <a:cs typeface="B Mitra" panose="00000400000000000000" pitchFamily="2" charset="-78"/>
              </a:rPr>
              <a:t>مدل‌های</a:t>
            </a:r>
            <a:r>
              <a:rPr lang="fa-IR" sz="2600" b="1" dirty="0">
                <a:cs typeface="B Mitra" panose="00000400000000000000" pitchFamily="2" charset="-78"/>
              </a:rPr>
              <a:t> پیشرفته</a:t>
            </a:r>
            <a:endParaRPr lang="en-US" dirty="0">
              <a:cs typeface="B Titr" panose="00000700000000000000" pitchFamily="2" charset="-78"/>
            </a:endParaRP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CNN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RNN</a:t>
            </a:r>
          </a:p>
          <a:p>
            <a:pPr lvl="1" algn="r" rtl="1"/>
            <a:r>
              <a:rPr lang="en-US" sz="2400" dirty="0">
                <a:cs typeface="B Mitra" panose="00000400000000000000" pitchFamily="2" charset="-78"/>
              </a:rPr>
              <a:t>Transformer</a:t>
            </a:r>
          </a:p>
          <a:p>
            <a:pPr algn="r" rtl="1"/>
            <a:r>
              <a:rPr lang="fa-IR" sz="2400" b="1" dirty="0">
                <a:cs typeface="B Mitra" panose="00000400000000000000" pitchFamily="2" charset="-78"/>
              </a:rPr>
              <a:t>بررسی مدل انتخابی</a:t>
            </a:r>
          </a:p>
          <a:p>
            <a:pPr lvl="1" algn="r" rtl="1"/>
            <a:r>
              <a:rPr lang="en-US" sz="2400" dirty="0" err="1">
                <a:cs typeface="B Mitra" panose="00000400000000000000" pitchFamily="2" charset="-78"/>
              </a:rPr>
              <a:t>DTrOCR</a:t>
            </a:r>
            <a:endParaRPr lang="fa-IR" sz="2400" dirty="0">
              <a:cs typeface="B Mitra" panose="00000400000000000000" pitchFamily="2" charset="-78"/>
            </a:endParaRPr>
          </a:p>
          <a:p>
            <a:pPr lvl="1" algn="r" rtl="1"/>
            <a:r>
              <a:rPr lang="en-US" sz="2400" dirty="0" err="1">
                <a:cs typeface="B Mitra" panose="00000400000000000000" pitchFamily="2" charset="-78"/>
              </a:rPr>
              <a:t>DTrOCR</a:t>
            </a:r>
            <a:r>
              <a:rPr lang="en-US" sz="2400" dirty="0">
                <a:cs typeface="B Mitra" panose="00000400000000000000" pitchFamily="2" charset="-78"/>
              </a:rPr>
              <a:t> + RNNT</a:t>
            </a:r>
          </a:p>
          <a:p>
            <a:pPr lvl="1" algn="r" rtl="1"/>
            <a:r>
              <a:rPr lang="fa-IR" sz="2400" dirty="0">
                <a:cs typeface="B Mitra" panose="00000400000000000000" pitchFamily="2" charset="-78"/>
              </a:rPr>
              <a:t>جایگزینی </a:t>
            </a:r>
            <a:r>
              <a:rPr lang="en-US" sz="2400" dirty="0">
                <a:cs typeface="B Mitra" panose="00000400000000000000" pitchFamily="2" charset="-78"/>
              </a:rPr>
              <a:t>vision transformer</a:t>
            </a:r>
          </a:p>
          <a:p>
            <a:pPr algn="r" rtl="1"/>
            <a:endParaRPr lang="en-US" sz="2400" dirty="0">
              <a:cs typeface="B Titr" panose="00000700000000000000" pitchFamily="2" charset="-78"/>
            </a:endParaRPr>
          </a:p>
          <a:p>
            <a:pPr algn="r" rtl="1"/>
            <a:endParaRPr lang="fa-IR" sz="2400" dirty="0">
              <a:cs typeface="B Mitra" panose="00000400000000000000" pitchFamily="2" charset="-78"/>
            </a:endParaRPr>
          </a:p>
          <a:p>
            <a:pPr marL="228600" lvl="1" indent="0" algn="r" rtl="1">
              <a:buFont typeface="Arial" panose="020B0604020202020204" pitchFamily="34" charset="0"/>
              <a:buNone/>
            </a:pPr>
            <a:endParaRPr lang="fa-IR" sz="2400" dirty="0">
              <a:cs typeface="B Mitra" panose="00000400000000000000" pitchFamily="2" charset="-78"/>
            </a:endParaRPr>
          </a:p>
          <a:p>
            <a:pPr algn="r" rtl="1"/>
            <a:endParaRPr lang="en-US" dirty="0">
              <a:cs typeface="B Titr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71665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5FB75C3E-5885-49DD-8190-BB1E8C511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9786" y="247525"/>
            <a:ext cx="1424510" cy="900791"/>
          </a:xfrm>
        </p:spPr>
        <p:txBody>
          <a:bodyPr>
            <a:normAutofit/>
          </a:bodyPr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منابع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323639-65E1-FDBD-1BE3-374BB39C19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16638" y="733426"/>
            <a:ext cx="8941761" cy="6124574"/>
          </a:xfrm>
        </p:spPr>
        <p:txBody>
          <a:bodyPr>
            <a:noAutofit/>
          </a:bodyPr>
          <a:lstStyle/>
          <a:p>
            <a:pPr marL="0" marR="0" indent="0" algn="justLow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[1] Masato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Fujitake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“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DTrOCR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: Decoder Only Transformer Optical Character Recognition”, </a:t>
            </a:r>
            <a:r>
              <a:rPr lang="en-US" sz="2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https://doi.org/10.48550/arXiv.2308.15996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arXiv:2308.15996, 11, 2024</a:t>
            </a:r>
            <a:endParaRPr lang="fa-IR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 algn="justLow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[2]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Mohd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Halim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Mohd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Noor;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Ayokunle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Olalecan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Lge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“A Survey Of Deep Learning and Its Application”, </a:t>
            </a:r>
            <a:r>
              <a:rPr lang="en-US" sz="2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https://doi.org/10.48550/arXiv.2403.17561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arXiv:2403.17561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B Nazanin" panose="00000400000000000000" pitchFamily="2" charset="-78"/>
            </a:endParaRPr>
          </a:p>
          <a:p>
            <a:pPr marL="0" marR="0" indent="0" algn="justLow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[3] Wissam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AiKendi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Frank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Getcher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Laurent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HeyBerger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Christophe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Guyeux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“Advancements and Challenges in Handwritten Text Recognition: A Comprehensive Survey”, </a:t>
            </a:r>
            <a:r>
              <a:rPr lang="en-US" sz="2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https://doi.org/10.3390/jimaging10010018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Journal Of Imaging, 30, 2024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B Nazanin" panose="00000400000000000000" pitchFamily="2" charset="-78"/>
            </a:endParaRPr>
          </a:p>
          <a:p>
            <a:pPr marL="0" marR="0" indent="0" algn="justLow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[4] Daniel Hernandez Diaz;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Syinag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Qin; Reeve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Lngle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Yasuhisa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Fujii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; “Rethinking Text Line Recognition Models”, </a:t>
            </a:r>
            <a:r>
              <a:rPr lang="en-US" sz="2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https://doi.org/10.48550/arXiv.2104.07787,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arXiv:2104.07787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B Nazanin" panose="00000400000000000000" pitchFamily="2" charset="-78"/>
            </a:endParaRPr>
          </a:p>
          <a:p>
            <a:pPr marL="0" marR="0" indent="0" algn="justLow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[5]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siddesha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S.; Rekha G.R.;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Manjuanatha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 K.S.; “Offline English Handwritten Recognition – A Detailed Survey”, </a:t>
            </a:r>
            <a:r>
              <a:rPr lang="en-US" sz="2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https://doi.org/10.5281/zenodo.8202475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Zenodo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51, 2023Top of Form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B Nazanin" panose="00000400000000000000" pitchFamily="2" charset="-78"/>
            </a:endParaRPr>
          </a:p>
          <a:p>
            <a:pPr marL="0" marR="0" indent="0" algn="justLow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[6] https://huggingface.co</a:t>
            </a:r>
          </a:p>
          <a:p>
            <a:pPr marL="0" indent="0">
              <a:buNone/>
            </a:pP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[7] https://paperswithcode.com/paper/dtrocr-decoder-only-transformer-for-optical</a:t>
            </a:r>
            <a:endParaRPr lang="fa-IR" sz="20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40B739-30F9-C86F-67ED-2197DC1E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4660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6357" y="738390"/>
            <a:ext cx="5528217" cy="2685383"/>
          </a:xfrm>
        </p:spPr>
        <p:txBody>
          <a:bodyPr/>
          <a:lstStyle/>
          <a:p>
            <a:pPr algn="r" rtl="1"/>
            <a:r>
              <a:rPr lang="fa-IR" dirty="0">
                <a:cs typeface="B Titr" panose="00000700000000000000" pitchFamily="2" charset="-78"/>
              </a:rPr>
              <a:t>با تشکر</a:t>
            </a:r>
            <a:endParaRPr lang="en-US" dirty="0">
              <a:cs typeface="B Titr" panose="00000700000000000000" pitchFamily="2" charset="-78"/>
            </a:endParaRPr>
          </a:p>
        </p:txBody>
      </p:sp>
      <p:sp>
        <p:nvSpPr>
          <p:cNvPr id="6" name="Slide Number Placeholder 12">
            <a:extLst>
              <a:ext uri="{FF2B5EF4-FFF2-40B4-BE49-F238E27FC236}">
                <a16:creationId xmlns:a16="http://schemas.microsoft.com/office/drawing/2014/main" id="{16F3AA05-46CE-4697-BD60-7E754B50449D}"/>
              </a:ext>
            </a:extLst>
          </p:cNvPr>
          <p:cNvSpPr txBox="1">
            <a:spLocks/>
          </p:cNvSpPr>
          <p:nvPr/>
        </p:nvSpPr>
        <p:spPr>
          <a:xfrm>
            <a:off x="11123295" y="6356350"/>
            <a:ext cx="457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en-US" sz="1200" smtClean="0">
                <a:solidFill>
                  <a:schemeClr val="bg1"/>
                </a:solidFill>
              </a:rPr>
              <a:pPr/>
              <a:t>32</a:t>
            </a:fld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1950151-0FE0-482F-ADBD-EE52BFC46C9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9B7A9F-83D5-4264-91C0-B309A9EDBFB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AD375C2-2973-4C8B-9800-5B5271D300B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1246</Words>
  <Application>Microsoft Office PowerPoint</Application>
  <PresentationFormat>Widescreen</PresentationFormat>
  <Paragraphs>399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Avenir Next LT Pro</vt:lpstr>
      <vt:lpstr>B Mitra</vt:lpstr>
      <vt:lpstr>Calibri</vt:lpstr>
      <vt:lpstr>Times New Roman</vt:lpstr>
      <vt:lpstr>Custom</vt:lpstr>
      <vt:lpstr>آموزش DJango</vt:lpstr>
      <vt:lpstr>جنگو چیست​</vt:lpstr>
      <vt:lpstr>معماری Django</vt:lpstr>
      <vt:lpstr>LETS go</vt:lpstr>
      <vt:lpstr>پیش نیازها</vt:lpstr>
      <vt:lpstr>ساخت پروژه</vt:lpstr>
      <vt:lpstr>پروژه عملی باشگاه تنیس</vt:lpstr>
      <vt:lpstr>باشگاه تنیس</vt:lpstr>
      <vt:lpstr>ساخت APP</vt:lpstr>
      <vt:lpstr>Views, URLs</vt:lpstr>
      <vt:lpstr>templates</vt:lpstr>
      <vt:lpstr>Models</vt:lpstr>
      <vt:lpstr>پیشرفت‌های اخیر در یادگیری عمیق</vt:lpstr>
      <vt:lpstr>شبکه عصبی پیچشی</vt:lpstr>
      <vt:lpstr>شبکه عصبی بازگشتی</vt:lpstr>
      <vt:lpstr>شبکه عصبی ترنسفورمری</vt:lpstr>
      <vt:lpstr>مدل انتخابی و کارهای انجام شده</vt:lpstr>
      <vt:lpstr>مدل ترنسفورمر صرفا کدگشا</vt:lpstr>
      <vt:lpstr>معماری</vt:lpstr>
      <vt:lpstr>معماری</vt:lpstr>
      <vt:lpstr>پیاده سازی</vt:lpstr>
      <vt:lpstr>آزمایشات</vt:lpstr>
      <vt:lpstr>آزمایشات</vt:lpstr>
      <vt:lpstr>آزمایشات</vt:lpstr>
      <vt:lpstr>آزمایشات</vt:lpstr>
      <vt:lpstr>ایده‌ها</vt:lpstr>
      <vt:lpstr>ایده‌ها</vt:lpstr>
      <vt:lpstr>جزییات امور انجام شده</vt:lpstr>
      <vt:lpstr>جمع بندی</vt:lpstr>
      <vt:lpstr>جمع بندی</vt:lpstr>
      <vt:lpstr>منابع</vt:lpstr>
      <vt:lpstr>با تشکر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2023-12-19T13:11:42Z</dcterms:created>
  <dcterms:modified xsi:type="dcterms:W3CDTF">2025-04-25T15:14:52Z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