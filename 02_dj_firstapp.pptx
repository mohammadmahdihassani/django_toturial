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8" r:id="rId6"/>
    <p:sldId id="317" r:id="rId7"/>
    <p:sldId id="293" r:id="rId8"/>
    <p:sldId id="294" r:id="rId9"/>
    <p:sldId id="318" r:id="rId10"/>
    <p:sldId id="319" r:id="rId11"/>
    <p:sldId id="295" r:id="rId12"/>
    <p:sldId id="296" r:id="rId13"/>
    <p:sldId id="320" r:id="rId14"/>
    <p:sldId id="321" r:id="rId15"/>
    <p:sldId id="32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93204" autoAdjust="0"/>
  </p:normalViewPr>
  <p:slideViewPr>
    <p:cSldViewPr snapToGrid="0">
      <p:cViewPr varScale="1">
        <p:scale>
          <a:sx n="90" d="100"/>
          <a:sy n="90" d="100"/>
        </p:scale>
        <p:origin x="329" y="41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456"/>
    </p:cViewPr>
  </p:sorterViewPr>
  <p:notesViewPr>
    <p:cSldViewPr snapToGrid="0" showGuides="1">
      <p:cViewPr varScale="1">
        <p:scale>
          <a:sx n="86" d="100"/>
          <a:sy n="86" d="100"/>
        </p:scale>
        <p:origin x="97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712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336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a-IR" dirty="0"/>
              <a:t>هر چه عمق لایه ها بیشتر باشد یادگیری بهتر انجام </a:t>
            </a:r>
            <a:r>
              <a:rPr lang="fa-IR" dirty="0" err="1"/>
              <a:t>می‌شود</a:t>
            </a:r>
            <a:r>
              <a:rPr lang="fa-IR" dirty="0"/>
              <a:t> و اصطلاحا یادگیری عمیق رخ </a:t>
            </a:r>
            <a:r>
              <a:rPr lang="fa-IR" dirty="0" err="1"/>
              <a:t>می‌دهد</a:t>
            </a:r>
            <a:r>
              <a:rPr lang="fa-I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549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765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649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1531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Optical character recognition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069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Optical character recognition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886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Optical character recognition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848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Optical character recognition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151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42204" y="1597202"/>
            <a:ext cx="6856292" cy="1817922"/>
          </a:xfrm>
        </p:spPr>
        <p:txBody>
          <a:bodyPr>
            <a:normAutofit/>
          </a:bodyPr>
          <a:lstStyle/>
          <a:p>
            <a:pPr algn="r" rtl="1"/>
            <a:r>
              <a:rPr lang="fa-IR" sz="4800" dirty="0">
                <a:cs typeface="B Titr" panose="00000700000000000000" pitchFamily="2" charset="-78"/>
              </a:rPr>
              <a:t>آموزش </a:t>
            </a:r>
            <a:r>
              <a:rPr lang="en-US" sz="4800" dirty="0" err="1">
                <a:cs typeface="B Titr" panose="00000700000000000000" pitchFamily="2" charset="-78"/>
              </a:rPr>
              <a:t>DJango</a:t>
            </a:r>
            <a:endParaRPr lang="en-US" sz="4800" dirty="0">
              <a:cs typeface="B Titr" panose="00000700000000000000" pitchFamily="2" charset="-78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8ABDDA-6D8C-4C1A-BFF5-2CCCDAF45D32}"/>
              </a:ext>
            </a:extLst>
          </p:cNvPr>
          <p:cNvSpPr txBox="1">
            <a:spLocks/>
          </p:cNvSpPr>
          <p:nvPr/>
        </p:nvSpPr>
        <p:spPr>
          <a:xfrm>
            <a:off x="2297708" y="262128"/>
            <a:ext cx="6856292" cy="908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r>
              <a:rPr lang="fa-IR" sz="4200" dirty="0">
                <a:cs typeface="B Titr" panose="00000700000000000000" pitchFamily="2" charset="-78"/>
              </a:rPr>
              <a:t>به نام خدا</a:t>
            </a:r>
            <a:endParaRPr lang="en-US" sz="4200" dirty="0">
              <a:cs typeface="B Titr" panose="000007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784D9-3E3C-4B8F-B868-9EB12FFD8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6856" y="0"/>
            <a:ext cx="1715144" cy="174064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B5BCB96-862A-496D-A429-D1920BE8DF0D}"/>
              </a:ext>
            </a:extLst>
          </p:cNvPr>
          <p:cNvSpPr txBox="1">
            <a:spLocks/>
          </p:cNvSpPr>
          <p:nvPr/>
        </p:nvSpPr>
        <p:spPr>
          <a:xfrm>
            <a:off x="7162800" y="4610084"/>
            <a:ext cx="4435696" cy="804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fa-IR" sz="2400" dirty="0">
                <a:cs typeface="B Titr" panose="00000700000000000000" pitchFamily="2" charset="-78"/>
              </a:rPr>
              <a:t>ارائه دهنده: محمدمهدی حسنی</a:t>
            </a:r>
            <a:endParaRPr lang="en-US" sz="2400" dirty="0">
              <a:cs typeface="B Titr" panose="00000700000000000000" pitchFamily="2" charset="-78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CE4C02C-6215-44CF-8097-E97D2ED6800E}"/>
              </a:ext>
            </a:extLst>
          </p:cNvPr>
          <p:cNvSpPr txBox="1">
            <a:spLocks/>
          </p:cNvSpPr>
          <p:nvPr/>
        </p:nvSpPr>
        <p:spPr>
          <a:xfrm>
            <a:off x="9345168" y="5272902"/>
            <a:ext cx="1637390" cy="8044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fa-IR" sz="2400" dirty="0">
                <a:cs typeface="B Titr" panose="00000700000000000000" pitchFamily="2" charset="-78"/>
              </a:rPr>
              <a:t>بهار 1404</a:t>
            </a:r>
            <a:endParaRPr lang="en-US" sz="2400" dirty="0">
              <a:cs typeface="B Titr" panose="00000700000000000000" pitchFamily="2" charset="-78"/>
            </a:endParaRPr>
          </a:p>
        </p:txBody>
      </p:sp>
      <p:pic>
        <p:nvPicPr>
          <p:cNvPr id="1026" name="Picture 2" descr="Python - Wikiversity">
            <a:extLst>
              <a:ext uri="{FF2B5EF4-FFF2-40B4-BE49-F238E27FC236}">
                <a16:creationId xmlns:a16="http://schemas.microsoft.com/office/drawing/2014/main" id="{E8BA780D-3DB4-4155-9CE4-C78C149CD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098" y="3049505"/>
            <a:ext cx="1926198" cy="1926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‪A Beginner's Guide to Getting Started With Django‬‏">
            <a:extLst>
              <a:ext uri="{FF2B5EF4-FFF2-40B4-BE49-F238E27FC236}">
                <a16:creationId xmlns:a16="http://schemas.microsoft.com/office/drawing/2014/main" id="{8BB28611-9CC4-47F9-BFAB-F544C9906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2227" y="3095609"/>
            <a:ext cx="2807161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722376"/>
          </a:xfrm>
        </p:spPr>
        <p:txBody>
          <a:bodyPr/>
          <a:lstStyle/>
          <a:p>
            <a:pPr algn="r" rtl="1"/>
            <a:r>
              <a:rPr lang="fa-IR" dirty="0" err="1">
                <a:cs typeface="B Titr" panose="00000700000000000000" pitchFamily="2" charset="-78"/>
              </a:rPr>
              <a:t>جنگو</a:t>
            </a:r>
            <a:r>
              <a:rPr lang="fa-IR" dirty="0">
                <a:cs typeface="B Titr" panose="00000700000000000000" pitchFamily="2" charset="-78"/>
              </a:rPr>
              <a:t> چیست</a:t>
            </a:r>
            <a:r>
              <a:rPr lang="en-US" dirty="0">
                <a:cs typeface="B Titr" panose="00000700000000000000" pitchFamily="2" charset="-78"/>
              </a:rPr>
              <a:t>​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646174" y="1786128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rtl="1"/>
            <a:r>
              <a:rPr lang="fa-IR" sz="2600" b="1" dirty="0">
                <a:cs typeface="B Mitra" panose="00000400000000000000" pitchFamily="2" charset="-78"/>
              </a:rPr>
              <a:t>یک </a:t>
            </a:r>
            <a:r>
              <a:rPr lang="fa-IR" sz="2600" b="1" dirty="0" err="1">
                <a:cs typeface="B Mitra" panose="00000400000000000000" pitchFamily="2" charset="-78"/>
              </a:rPr>
              <a:t>فریم‌ورک</a:t>
            </a:r>
            <a:r>
              <a:rPr lang="fa-IR" sz="2600" b="1" dirty="0">
                <a:cs typeface="B Mitra" panose="00000400000000000000" pitchFamily="2" charset="-78"/>
              </a:rPr>
              <a:t> برای توسعه برنامه های</a:t>
            </a:r>
          </a:p>
          <a:p>
            <a:pPr algn="r" rtl="1"/>
            <a:r>
              <a:rPr lang="fa-IR" sz="2600" b="1" dirty="0">
                <a:cs typeface="B Mitra" panose="00000400000000000000" pitchFamily="2" charset="-78"/>
              </a:rPr>
              <a:t> سمت سرور و </a:t>
            </a:r>
            <a:r>
              <a:rPr lang="en-US" sz="2600" b="1" dirty="0">
                <a:cs typeface="B Mitra" panose="00000400000000000000" pitchFamily="2" charset="-78"/>
              </a:rPr>
              <a:t>back-end</a:t>
            </a:r>
            <a:endParaRPr lang="fa-IR" sz="2600" b="1" dirty="0">
              <a:cs typeface="B Mitra" panose="00000400000000000000" pitchFamily="2" charset="-78"/>
            </a:endParaRPr>
          </a:p>
          <a:p>
            <a:pPr algn="r" rtl="1"/>
            <a:endParaRPr lang="en-US" dirty="0">
              <a:cs typeface="B Titr" panose="00000700000000000000" pitchFamily="2" charset="-78"/>
            </a:endParaRPr>
          </a:p>
          <a:p>
            <a:pPr lvl="1" algn="r" rtl="1"/>
            <a:r>
              <a:rPr lang="fa-IR" sz="2400" dirty="0" err="1">
                <a:cs typeface="B Mitra" panose="00000400000000000000" pitchFamily="2" charset="-78"/>
              </a:rPr>
              <a:t>آسان‌تر</a:t>
            </a:r>
            <a:r>
              <a:rPr lang="fa-IR" sz="2400" dirty="0">
                <a:cs typeface="B Mitra" panose="00000400000000000000" pitchFamily="2" charset="-78"/>
              </a:rPr>
              <a:t> کردن توسعه یک </a:t>
            </a:r>
            <a:r>
              <a:rPr lang="en-US" sz="2400" dirty="0">
                <a:cs typeface="B Mitra" panose="00000400000000000000" pitchFamily="2" charset="-78"/>
              </a:rPr>
              <a:t>web page</a:t>
            </a: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آسانی مدیریت پایگاه داده</a:t>
            </a:r>
            <a:endParaRPr lang="en-US" sz="2400" dirty="0">
              <a:cs typeface="B Mitra" panose="00000400000000000000" pitchFamily="2" charset="-78"/>
            </a:endParaRPr>
          </a:p>
          <a:p>
            <a:pPr marL="228600" lvl="1" indent="0" algn="r" rtl="1">
              <a:buNone/>
            </a:pPr>
            <a:endParaRPr lang="en-US" sz="2400" dirty="0">
              <a:cs typeface="B Mitra" panose="00000400000000000000" pitchFamily="2" charset="-78"/>
            </a:endParaRPr>
          </a:p>
          <a:p>
            <a:pPr algn="r" rtl="1"/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295" y="6096000"/>
            <a:ext cx="457200" cy="365125"/>
          </a:xfrm>
        </p:spPr>
        <p:txBody>
          <a:bodyPr/>
          <a:lstStyle/>
          <a:p>
            <a:pPr algn="l" rtl="1"/>
            <a:fld id="{B5CEABB6-07DC-46E8-9B57-56EC44A396E5}" type="slidenum">
              <a:rPr lang="en-US" smtClean="0">
                <a:solidFill>
                  <a:schemeClr val="tx1"/>
                </a:solidFill>
                <a:cs typeface="B Titr" panose="00000700000000000000" pitchFamily="2" charset="-78"/>
              </a:rPr>
              <a:pPr algn="l" rtl="1"/>
              <a:t>2</a:t>
            </a:fld>
            <a:endParaRPr lang="en-US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2C9FB52-76CC-4A65-9D2C-85B64502EE42}"/>
              </a:ext>
            </a:extLst>
          </p:cNvPr>
          <p:cNvSpPr txBox="1">
            <a:spLocks/>
          </p:cNvSpPr>
          <p:nvPr/>
        </p:nvSpPr>
        <p:spPr>
          <a:xfrm>
            <a:off x="836295" y="1408176"/>
            <a:ext cx="4514850" cy="3505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2600" b="1" dirty="0">
                <a:cs typeface="B Mitra" panose="00000400000000000000" pitchFamily="2" charset="-78"/>
              </a:rPr>
              <a:t>با </a:t>
            </a:r>
            <a:r>
              <a:rPr lang="fa-IR" sz="2600" b="1" dirty="0" err="1">
                <a:cs typeface="B Mitra" panose="00000400000000000000" pitchFamily="2" charset="-78"/>
              </a:rPr>
              <a:t>یادگرفتن</a:t>
            </a:r>
            <a:r>
              <a:rPr lang="fa-IR" sz="2600" b="1" dirty="0">
                <a:cs typeface="B Mitra" panose="00000400000000000000" pitchFamily="2" charset="-78"/>
              </a:rPr>
              <a:t> </a:t>
            </a:r>
            <a:r>
              <a:rPr lang="fa-IR" sz="2600" b="1" dirty="0" err="1">
                <a:cs typeface="B Mitra" panose="00000400000000000000" pitchFamily="2" charset="-78"/>
              </a:rPr>
              <a:t>جنگو</a:t>
            </a:r>
            <a:r>
              <a:rPr lang="fa-IR" sz="2600" b="1" dirty="0">
                <a:cs typeface="B Mitra" panose="00000400000000000000" pitchFamily="2" charset="-78"/>
              </a:rPr>
              <a:t> شما </a:t>
            </a:r>
            <a:r>
              <a:rPr lang="fa-IR" sz="2600" b="1" dirty="0" err="1">
                <a:cs typeface="B Mitra" panose="00000400000000000000" pitchFamily="2" charset="-78"/>
              </a:rPr>
              <a:t>می‌توانید</a:t>
            </a:r>
            <a:endParaRPr lang="en-US" dirty="0">
              <a:cs typeface="B Titr" panose="00000700000000000000" pitchFamily="2" charset="-78"/>
            </a:endParaRP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یک صفحه </a:t>
            </a:r>
            <a:r>
              <a:rPr lang="fa-IR" sz="2400" dirty="0" err="1">
                <a:cs typeface="B Mitra" panose="00000400000000000000" pitchFamily="2" charset="-78"/>
              </a:rPr>
              <a:t>وب</a:t>
            </a:r>
            <a:r>
              <a:rPr lang="fa-IR" sz="2400" dirty="0">
                <a:cs typeface="B Mitra" panose="00000400000000000000" pitchFamily="2" charset="-78"/>
              </a:rPr>
              <a:t> بسازید.</a:t>
            </a: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اطلاعات را به </a:t>
            </a:r>
            <a:r>
              <a:rPr lang="fa-IR" sz="2400" dirty="0" err="1">
                <a:cs typeface="B Mitra" panose="00000400000000000000" pitchFamily="2" charset="-78"/>
              </a:rPr>
              <a:t>دیتابیس</a:t>
            </a:r>
            <a:r>
              <a:rPr lang="fa-IR" sz="2400" dirty="0">
                <a:cs typeface="B Mitra" panose="00000400000000000000" pitchFamily="2" charset="-78"/>
              </a:rPr>
              <a:t>، اضافه کنید یا حذف کنید. </a:t>
            </a:r>
            <a:r>
              <a:rPr lang="fa-IR" sz="2400" dirty="0" err="1">
                <a:cs typeface="B Mitra" panose="00000400000000000000" pitchFamily="2" charset="-78"/>
              </a:rPr>
              <a:t>عملیات‌های</a:t>
            </a:r>
            <a:r>
              <a:rPr lang="fa-IR" sz="2400" dirty="0">
                <a:cs typeface="B Mitra" panose="00000400000000000000" pitchFamily="2" charset="-78"/>
              </a:rPr>
              <a:t> </a:t>
            </a:r>
            <a:r>
              <a:rPr lang="en-US" sz="2400" dirty="0">
                <a:cs typeface="B Mitra" panose="00000400000000000000" pitchFamily="2" charset="-78"/>
              </a:rPr>
              <a:t>CRUD</a:t>
            </a: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سمت </a:t>
            </a:r>
            <a:r>
              <a:rPr lang="en-US" sz="2400" dirty="0">
                <a:cs typeface="B Mitra" panose="00000400000000000000" pitchFamily="2" charset="-78"/>
              </a:rPr>
              <a:t>backend</a:t>
            </a:r>
            <a:r>
              <a:rPr lang="fa-IR" sz="2400" dirty="0">
                <a:cs typeface="B Mitra" panose="00000400000000000000" pitchFamily="2" charset="-78"/>
              </a:rPr>
              <a:t> یک پروژه </a:t>
            </a:r>
            <a:r>
              <a:rPr lang="fa-IR" sz="2400" dirty="0" err="1">
                <a:cs typeface="B Mitra" panose="00000400000000000000" pitchFamily="2" charset="-78"/>
              </a:rPr>
              <a:t>حرفه‌ای</a:t>
            </a:r>
            <a:r>
              <a:rPr lang="fa-IR" sz="2400" dirty="0">
                <a:cs typeface="B Mitra" panose="00000400000000000000" pitchFamily="2" charset="-78"/>
              </a:rPr>
              <a:t> را به صورت کامل توسعه دهید.</a:t>
            </a:r>
          </a:p>
          <a:p>
            <a:pPr marL="228600" lvl="1" indent="0" algn="r" rtl="1">
              <a:buNone/>
            </a:pPr>
            <a:endParaRPr lang="en-US" sz="2400" dirty="0">
              <a:cs typeface="B Mitra" panose="00000400000000000000" pitchFamily="2" charset="-78"/>
            </a:endParaRPr>
          </a:p>
          <a:p>
            <a:pPr marL="228600" lvl="1" indent="0" algn="r" rtl="1">
              <a:buFont typeface="Arial" panose="020B0604020202020204" pitchFamily="34" charset="0"/>
              <a:buNone/>
            </a:pPr>
            <a:endParaRPr lang="en-US" sz="2400" dirty="0">
              <a:cs typeface="B Mitra" panose="00000400000000000000" pitchFamily="2" charset="-78"/>
            </a:endParaRPr>
          </a:p>
          <a:p>
            <a:pPr algn="r" rtl="1"/>
            <a:endParaRPr lang="en-US" dirty="0"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530987"/>
            <a:ext cx="9389288" cy="722376"/>
          </a:xfrm>
        </p:spPr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معماری </a:t>
            </a:r>
            <a:r>
              <a:rPr lang="en-US" dirty="0">
                <a:cs typeface="B Titr" panose="00000700000000000000" pitchFamily="2" charset="-78"/>
              </a:rPr>
              <a:t>Django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295" y="6096000"/>
            <a:ext cx="457200" cy="365125"/>
          </a:xfrm>
        </p:spPr>
        <p:txBody>
          <a:bodyPr/>
          <a:lstStyle/>
          <a:p>
            <a:pPr algn="l" rtl="1"/>
            <a:fld id="{B5CEABB6-07DC-46E8-9B57-56EC44A396E5}" type="slidenum">
              <a:rPr lang="en-US" smtClean="0">
                <a:solidFill>
                  <a:schemeClr val="tx1"/>
                </a:solidFill>
                <a:cs typeface="B Titr" panose="00000700000000000000" pitchFamily="2" charset="-78"/>
              </a:rPr>
              <a:pPr algn="l" rtl="1"/>
              <a:t>3</a:t>
            </a:fld>
            <a:endParaRPr lang="en-US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202023F1-30E0-4739-A196-6FAFA8E88D6B}"/>
              </a:ext>
            </a:extLst>
          </p:cNvPr>
          <p:cNvSpPr txBox="1">
            <a:spLocks/>
          </p:cNvSpPr>
          <p:nvPr/>
        </p:nvSpPr>
        <p:spPr>
          <a:xfrm>
            <a:off x="2962656" y="1490472"/>
            <a:ext cx="7304913" cy="51755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2600" b="1" dirty="0">
                <a:cs typeface="B Mitra" panose="00000400000000000000" pitchFamily="2" charset="-78"/>
              </a:rPr>
              <a:t>تشکیل شده از سه قسمت</a:t>
            </a:r>
            <a:endParaRPr lang="en-US" dirty="0">
              <a:cs typeface="B Titr" panose="00000700000000000000" pitchFamily="2" charset="-78"/>
            </a:endParaRPr>
          </a:p>
          <a:p>
            <a:pPr lvl="1" algn="r" rtl="1"/>
            <a:r>
              <a:rPr lang="en-US" sz="2400" dirty="0">
                <a:cs typeface="B Mitra" panose="00000400000000000000" pitchFamily="2" charset="-78"/>
              </a:rPr>
              <a:t>Model</a:t>
            </a:r>
          </a:p>
          <a:p>
            <a:pPr lvl="2" algn="r" rtl="1"/>
            <a:r>
              <a:rPr lang="fa-IR" sz="2400" dirty="0">
                <a:cs typeface="B Mitra" panose="00000400000000000000" pitchFamily="2" charset="-78"/>
              </a:rPr>
              <a:t>طراحی </a:t>
            </a:r>
            <a:r>
              <a:rPr lang="fa-IR" sz="2400" dirty="0" err="1">
                <a:cs typeface="B Mitra" panose="00000400000000000000" pitchFamily="2" charset="-78"/>
              </a:rPr>
              <a:t>دیتابیس</a:t>
            </a:r>
            <a:endParaRPr lang="fa-IR" sz="2400" dirty="0">
              <a:cs typeface="B Mitra" panose="00000400000000000000" pitchFamily="2" charset="-78"/>
            </a:endParaRPr>
          </a:p>
          <a:p>
            <a:pPr lvl="2" algn="r" rtl="1"/>
            <a:r>
              <a:rPr lang="fa-IR" sz="2400" dirty="0">
                <a:cs typeface="B Mitra" panose="00000400000000000000" pitchFamily="2" charset="-78"/>
              </a:rPr>
              <a:t>فراهم کردن </a:t>
            </a:r>
            <a:r>
              <a:rPr lang="fa-IR" sz="2400" dirty="0" err="1">
                <a:cs typeface="B Mitra" panose="00000400000000000000" pitchFamily="2" charset="-78"/>
              </a:rPr>
              <a:t>داده‌ها</a:t>
            </a:r>
            <a:r>
              <a:rPr lang="fa-IR" sz="2400" dirty="0">
                <a:cs typeface="B Mitra" panose="00000400000000000000" pitchFamily="2" charset="-78"/>
              </a:rPr>
              <a:t> از </a:t>
            </a:r>
            <a:r>
              <a:rPr lang="fa-IR" sz="2400" dirty="0" err="1">
                <a:cs typeface="B Mitra" panose="00000400000000000000" pitchFamily="2" charset="-78"/>
              </a:rPr>
              <a:t>دیتابیس</a:t>
            </a:r>
            <a:endParaRPr lang="fa-IR" sz="2400" dirty="0">
              <a:cs typeface="B Mitra" panose="00000400000000000000" pitchFamily="2" charset="-78"/>
            </a:endParaRPr>
          </a:p>
          <a:p>
            <a:pPr lvl="2" algn="r" rtl="1"/>
            <a:r>
              <a:rPr lang="fa-IR" sz="2400" dirty="0">
                <a:cs typeface="B Mitra" panose="00000400000000000000" pitchFamily="2" charset="-78"/>
              </a:rPr>
              <a:t>معماری </a:t>
            </a:r>
            <a:r>
              <a:rPr lang="en-US" sz="2400" dirty="0">
                <a:cs typeface="B Mitra" panose="00000400000000000000" pitchFamily="2" charset="-78"/>
              </a:rPr>
              <a:t>ORM (Object Relational Mapping)</a:t>
            </a:r>
            <a:endParaRPr lang="fa-IR" sz="2400" dirty="0">
              <a:cs typeface="B Mitra" panose="00000400000000000000" pitchFamily="2" charset="-78"/>
            </a:endParaRPr>
          </a:p>
          <a:p>
            <a:pPr lvl="1" algn="r" rtl="1"/>
            <a:r>
              <a:rPr lang="en-US" sz="2400" dirty="0">
                <a:cs typeface="B Mitra" panose="00000400000000000000" pitchFamily="2" charset="-78"/>
              </a:rPr>
              <a:t>View</a:t>
            </a:r>
          </a:p>
          <a:p>
            <a:pPr lvl="2" algn="r" rtl="1"/>
            <a:r>
              <a:rPr lang="fa-IR" sz="2400" dirty="0">
                <a:cs typeface="B Mitra" panose="00000400000000000000" pitchFamily="2" charset="-78"/>
              </a:rPr>
              <a:t>دریافت درخواست های ورودی و پردازش </a:t>
            </a:r>
            <a:r>
              <a:rPr lang="fa-IR" sz="2400" dirty="0" err="1">
                <a:cs typeface="B Mitra" panose="00000400000000000000" pitchFamily="2" charset="-78"/>
              </a:rPr>
              <a:t>آن‌ها</a:t>
            </a:r>
            <a:endParaRPr lang="fa-IR" sz="2400" dirty="0">
              <a:cs typeface="B Mitra" panose="00000400000000000000" pitchFamily="2" charset="-78"/>
            </a:endParaRPr>
          </a:p>
          <a:p>
            <a:pPr lvl="2" algn="r" rtl="1"/>
            <a:r>
              <a:rPr lang="fa-IR" sz="2400" dirty="0">
                <a:cs typeface="B Mitra" panose="00000400000000000000" pitchFamily="2" charset="-78"/>
              </a:rPr>
              <a:t>محل نوشتن </a:t>
            </a:r>
            <a:r>
              <a:rPr lang="en-US" sz="2400" dirty="0">
                <a:cs typeface="B Mitra" panose="00000400000000000000" pitchFamily="2" charset="-78"/>
              </a:rPr>
              <a:t>API</a:t>
            </a:r>
            <a:endParaRPr lang="fa-IR" sz="2400" dirty="0">
              <a:cs typeface="B Mitra" panose="00000400000000000000" pitchFamily="2" charset="-78"/>
            </a:endParaRPr>
          </a:p>
          <a:p>
            <a:pPr lvl="2" algn="r" rtl="1"/>
            <a:r>
              <a:rPr lang="en-US" sz="2400" dirty="0">
                <a:cs typeface="B Mitra" panose="00000400000000000000" pitchFamily="2" charset="-78"/>
              </a:rPr>
              <a:t>Urls.py</a:t>
            </a:r>
          </a:p>
          <a:p>
            <a:pPr lvl="1" algn="r" rtl="1"/>
            <a:r>
              <a:rPr lang="en-US" sz="2400" dirty="0">
                <a:cs typeface="B Mitra" panose="00000400000000000000" pitchFamily="2" charset="-78"/>
              </a:rPr>
              <a:t>Template</a:t>
            </a:r>
          </a:p>
          <a:p>
            <a:pPr lvl="2" algn="r" rtl="1"/>
            <a:r>
              <a:rPr lang="fa-IR" sz="2400" dirty="0">
                <a:cs typeface="B Mitra" panose="00000400000000000000" pitchFamily="2" charset="-78"/>
              </a:rPr>
              <a:t>طراحی رابط کاربری </a:t>
            </a:r>
            <a:r>
              <a:rPr lang="fa-IR" sz="2400" dirty="0" err="1">
                <a:cs typeface="B Mitra" panose="00000400000000000000" pitchFamily="2" charset="-78"/>
              </a:rPr>
              <a:t>گرافیکی</a:t>
            </a:r>
            <a:endParaRPr lang="fa-IR" sz="2400" dirty="0">
              <a:cs typeface="B Mitra" panose="00000400000000000000" pitchFamily="2" charset="-78"/>
            </a:endParaRPr>
          </a:p>
          <a:p>
            <a:pPr lvl="2" algn="r" rtl="1"/>
            <a:r>
              <a:rPr lang="en-US" sz="2400" dirty="0">
                <a:cs typeface="B Mitra" panose="00000400000000000000" pitchFamily="2" charset="-78"/>
              </a:rPr>
              <a:t>Html</a:t>
            </a:r>
          </a:p>
          <a:p>
            <a:pPr marL="685800" lvl="2" indent="0" algn="r" rtl="1">
              <a:buNone/>
            </a:pPr>
            <a:endParaRPr lang="fa-IR" sz="2400" dirty="0">
              <a:cs typeface="B Mitra" panose="00000400000000000000" pitchFamily="2" charset="-78"/>
            </a:endParaRPr>
          </a:p>
          <a:p>
            <a:pPr marL="228600" lvl="1" indent="0" algn="r" rtl="1">
              <a:buNone/>
            </a:pPr>
            <a:endParaRPr lang="en-US" sz="2400" dirty="0">
              <a:cs typeface="B Mitra" panose="00000400000000000000" pitchFamily="2" charset="-78"/>
            </a:endParaRPr>
          </a:p>
          <a:p>
            <a:pPr marL="228600" lvl="1" indent="0" algn="r" rtl="1">
              <a:buFont typeface="Arial" panose="020B0604020202020204" pitchFamily="34" charset="0"/>
              <a:buNone/>
            </a:pPr>
            <a:endParaRPr lang="en-US" sz="2400" dirty="0">
              <a:cs typeface="B Mitra" panose="00000400000000000000" pitchFamily="2" charset="-78"/>
            </a:endParaRPr>
          </a:p>
          <a:p>
            <a:pPr algn="r" rtl="1"/>
            <a:endParaRPr lang="en-US" dirty="0"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42660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544285"/>
            <a:ext cx="6594768" cy="3445329"/>
          </a:xfrm>
        </p:spPr>
        <p:txBody>
          <a:bodyPr>
            <a:normAutofit/>
          </a:bodyPr>
          <a:lstStyle/>
          <a:p>
            <a:pPr algn="ctr" rtl="1"/>
            <a:r>
              <a:rPr lang="en-US" dirty="0">
                <a:cs typeface="B Titr" panose="00000700000000000000" pitchFamily="2" charset="-78"/>
              </a:rPr>
              <a:t>LETS go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B Titr" panose="00000700000000000000" pitchFamily="2" charset="-78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085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493776"/>
            <a:ext cx="9389288" cy="722376"/>
          </a:xfrm>
        </p:spPr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پیش نیازها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0982" y="1420368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b="1" dirty="0">
                <a:cs typeface="B Mitra" panose="00000400000000000000" pitchFamily="2" charset="-78"/>
              </a:rPr>
              <a:t>Install python version 3</a:t>
            </a:r>
            <a:endParaRPr lang="en-US" dirty="0">
              <a:cs typeface="B Titr" panose="00000700000000000000" pitchFamily="2" charset="-78"/>
            </a:endParaRPr>
          </a:p>
          <a:p>
            <a:pPr lvl="1"/>
            <a:r>
              <a:rPr lang="en-US" sz="2400" dirty="0">
                <a:cs typeface="B Mitra" panose="00000400000000000000" pitchFamily="2" charset="-78"/>
                <a:hlinkClick r:id="rId3"/>
              </a:rPr>
              <a:t>https://www.python.org/downloads/</a:t>
            </a:r>
            <a:endParaRPr lang="en-US" sz="2400" dirty="0">
              <a:cs typeface="B Mitra" panose="00000400000000000000" pitchFamily="2" charset="-78"/>
            </a:endParaRPr>
          </a:p>
          <a:p>
            <a:pPr lvl="1"/>
            <a:r>
              <a:rPr lang="en-US" sz="2400" dirty="0">
                <a:cs typeface="B Mitra" panose="00000400000000000000" pitchFamily="2" charset="-78"/>
              </a:rPr>
              <a:t>python –-version</a:t>
            </a:r>
          </a:p>
          <a:p>
            <a:pPr lvl="1"/>
            <a:r>
              <a:rPr lang="en-US" sz="2400" dirty="0">
                <a:cs typeface="B Mitra" panose="00000400000000000000" pitchFamily="2" charset="-78"/>
              </a:rPr>
              <a:t>pip –version</a:t>
            </a:r>
          </a:p>
          <a:p>
            <a:pPr lvl="1"/>
            <a:r>
              <a:rPr lang="en-US" sz="2400" dirty="0">
                <a:cs typeface="B Mitra" panose="00000400000000000000" pitchFamily="2" charset="-78"/>
              </a:rPr>
              <a:t>Install </a:t>
            </a:r>
            <a:r>
              <a:rPr lang="en-US" sz="2400" dirty="0" err="1">
                <a:cs typeface="B Mitra" panose="00000400000000000000" pitchFamily="2" charset="-78"/>
              </a:rPr>
              <a:t>vscode</a:t>
            </a:r>
            <a:endParaRPr lang="en-US" sz="2400" dirty="0">
              <a:cs typeface="B Mitra" panose="00000400000000000000" pitchFamily="2" charset="-78"/>
            </a:endParaRPr>
          </a:p>
          <a:p>
            <a:pPr lvl="1"/>
            <a:r>
              <a:rPr lang="en-US" sz="2400" dirty="0">
                <a:cs typeface="B Mitra" panose="00000400000000000000" pitchFamily="2" charset="-78"/>
              </a:rPr>
              <a:t>python –m </a:t>
            </a:r>
            <a:r>
              <a:rPr lang="en-US" sz="2400" dirty="0" err="1">
                <a:cs typeface="B Mitra" panose="00000400000000000000" pitchFamily="2" charset="-78"/>
              </a:rPr>
              <a:t>venv</a:t>
            </a:r>
            <a:r>
              <a:rPr lang="en-US" sz="2400" dirty="0">
                <a:cs typeface="B Mitra" panose="00000400000000000000" pitchFamily="2" charset="-78"/>
              </a:rPr>
              <a:t> </a:t>
            </a:r>
            <a:r>
              <a:rPr lang="en-US" sz="2400" dirty="0" err="1">
                <a:cs typeface="B Mitra" panose="00000400000000000000" pitchFamily="2" charset="-78"/>
              </a:rPr>
              <a:t>my_project</a:t>
            </a:r>
            <a:endParaRPr lang="en-US" sz="2400" dirty="0">
              <a:cs typeface="B Mitra" panose="00000400000000000000" pitchFamily="2" charset="-78"/>
            </a:endParaRPr>
          </a:p>
          <a:p>
            <a:pPr lvl="1"/>
            <a:r>
              <a:rPr lang="en-US" sz="2400" dirty="0">
                <a:cs typeface="B Mitra" panose="00000400000000000000" pitchFamily="2" charset="-78"/>
              </a:rPr>
              <a:t>pip install Django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295" y="6096000"/>
            <a:ext cx="457200" cy="365125"/>
          </a:xfrm>
        </p:spPr>
        <p:txBody>
          <a:bodyPr/>
          <a:lstStyle/>
          <a:p>
            <a:pPr algn="l" rtl="1"/>
            <a:fld id="{B5CEABB6-07DC-46E8-9B57-56EC44A396E5}" type="slidenum">
              <a:rPr lang="en-US" smtClean="0">
                <a:solidFill>
                  <a:schemeClr val="tx1"/>
                </a:solidFill>
                <a:cs typeface="B Titr" panose="00000700000000000000" pitchFamily="2" charset="-78"/>
              </a:rPr>
              <a:pPr algn="l" rtl="1"/>
              <a:t>5</a:t>
            </a:fld>
            <a:endParaRPr lang="en-US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0B33F3-F278-4DF1-A68E-2A1077EE8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429000"/>
            <a:ext cx="5559552" cy="327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5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493776"/>
            <a:ext cx="9389288" cy="722376"/>
          </a:xfrm>
        </p:spPr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ساخت پروژه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0982" y="1420368"/>
            <a:ext cx="6826242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cs typeface="B Titr" panose="00000700000000000000" pitchFamily="2" charset="-78"/>
            </a:endParaRPr>
          </a:p>
          <a:p>
            <a:pPr lvl="1"/>
            <a:r>
              <a:rPr lang="en-US" sz="2400" dirty="0" err="1">
                <a:cs typeface="B Mitra" panose="00000400000000000000" pitchFamily="2" charset="-78"/>
              </a:rPr>
              <a:t>django</a:t>
            </a:r>
            <a:r>
              <a:rPr lang="en-US" sz="2400" dirty="0">
                <a:cs typeface="B Mitra" panose="00000400000000000000" pitchFamily="2" charset="-78"/>
              </a:rPr>
              <a:t>-admin </a:t>
            </a:r>
            <a:r>
              <a:rPr lang="en-US" sz="2400" dirty="0" err="1">
                <a:cs typeface="B Mitra" panose="00000400000000000000" pitchFamily="2" charset="-78"/>
              </a:rPr>
              <a:t>startproject</a:t>
            </a:r>
            <a:r>
              <a:rPr lang="en-US" sz="2400" dirty="0">
                <a:cs typeface="B Mitra" panose="00000400000000000000" pitchFamily="2" charset="-78"/>
              </a:rPr>
              <a:t> </a:t>
            </a:r>
            <a:r>
              <a:rPr lang="en-US" sz="2400" dirty="0" err="1">
                <a:cs typeface="B Mitra" panose="00000400000000000000" pitchFamily="2" charset="-78"/>
              </a:rPr>
              <a:t>tennis_club</a:t>
            </a:r>
            <a:endParaRPr lang="en-US" sz="2400" dirty="0">
              <a:cs typeface="B Mitra" panose="00000400000000000000" pitchFamily="2" charset="-78"/>
            </a:endParaRPr>
          </a:p>
          <a:p>
            <a:pPr lvl="1"/>
            <a:r>
              <a:rPr lang="en-US" sz="2400" dirty="0">
                <a:cs typeface="B Mitra" panose="00000400000000000000" pitchFamily="2" charset="-78"/>
              </a:rPr>
              <a:t>python manage.py migrate</a:t>
            </a:r>
          </a:p>
          <a:p>
            <a:pPr lvl="1"/>
            <a:r>
              <a:rPr lang="en-US" sz="2400" dirty="0">
                <a:cs typeface="B Mitra" panose="00000400000000000000" pitchFamily="2" charset="-78"/>
              </a:rPr>
              <a:t>python manage.py </a:t>
            </a:r>
            <a:r>
              <a:rPr lang="en-US" sz="2400" dirty="0" err="1">
                <a:cs typeface="B Mitra" panose="00000400000000000000" pitchFamily="2" charset="-78"/>
              </a:rPr>
              <a:t>runserver</a:t>
            </a:r>
            <a:endParaRPr lang="en-US" sz="2400" dirty="0">
              <a:cs typeface="B Mitra" panose="00000400000000000000" pitchFamily="2" charset="-78"/>
            </a:endParaRPr>
          </a:p>
          <a:p>
            <a:pPr lvl="1"/>
            <a:r>
              <a:rPr lang="en-US" sz="2400" dirty="0">
                <a:cs typeface="B Mitra" panose="00000400000000000000" pitchFamily="2" charset="-78"/>
              </a:rPr>
              <a:t>Open 127.0.0.1:8000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295" y="6096000"/>
            <a:ext cx="457200" cy="365125"/>
          </a:xfrm>
        </p:spPr>
        <p:txBody>
          <a:bodyPr/>
          <a:lstStyle/>
          <a:p>
            <a:pPr algn="l" rtl="1"/>
            <a:fld id="{B5CEABB6-07DC-46E8-9B57-56EC44A396E5}" type="slidenum">
              <a:rPr lang="en-US" smtClean="0">
                <a:solidFill>
                  <a:schemeClr val="tx1"/>
                </a:solidFill>
                <a:cs typeface="B Titr" panose="00000700000000000000" pitchFamily="2" charset="-78"/>
              </a:rPr>
              <a:pPr algn="l" rtl="1"/>
              <a:t>6</a:t>
            </a:fld>
            <a:endParaRPr lang="en-US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CDA0CF-1A49-423B-B795-411283C33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959" y="3091802"/>
            <a:ext cx="6232961" cy="366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69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544285"/>
            <a:ext cx="6594768" cy="3445329"/>
          </a:xfrm>
        </p:spPr>
        <p:txBody>
          <a:bodyPr>
            <a:normAutofit/>
          </a:bodyPr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پروژه عملی</a:t>
            </a:r>
            <a:br>
              <a:rPr lang="fa-IR" dirty="0">
                <a:cs typeface="B Titr" panose="00000700000000000000" pitchFamily="2" charset="-78"/>
              </a:rPr>
            </a:br>
            <a:r>
              <a:rPr lang="fa-IR" dirty="0">
                <a:cs typeface="B Titr" panose="00000700000000000000" pitchFamily="2" charset="-78"/>
              </a:rPr>
              <a:t>باشگاه تنیس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B Titr" panose="00000700000000000000" pitchFamily="2" charset="-78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846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493776"/>
            <a:ext cx="9389288" cy="722376"/>
          </a:xfrm>
        </p:spPr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باشگاه تنیس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646174" y="1786128"/>
            <a:ext cx="4514850" cy="22494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rtl="1"/>
            <a:r>
              <a:rPr lang="fa-IR" sz="2600" b="1" dirty="0">
                <a:cs typeface="B Mitra" panose="00000400000000000000" pitchFamily="2" charset="-78"/>
              </a:rPr>
              <a:t>مرحله به مرحله، طراحی مدیریت یک</a:t>
            </a:r>
          </a:p>
          <a:p>
            <a:pPr algn="r" rtl="1"/>
            <a:r>
              <a:rPr lang="fa-IR" sz="2600" b="1" dirty="0">
                <a:cs typeface="B Mitra" panose="00000400000000000000" pitchFamily="2" charset="-78"/>
              </a:rPr>
              <a:t> باشگاه تنیس</a:t>
            </a:r>
            <a:endParaRPr lang="en-US" dirty="0">
              <a:cs typeface="B Titr" panose="00000700000000000000" pitchFamily="2" charset="-78"/>
            </a:endParaRP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طراحی </a:t>
            </a:r>
            <a:r>
              <a:rPr lang="en-US" sz="2400" dirty="0">
                <a:cs typeface="B Mitra" panose="00000400000000000000" pitchFamily="2" charset="-78"/>
              </a:rPr>
              <a:t>API</a:t>
            </a:r>
            <a:r>
              <a:rPr lang="fa-IR" sz="2400" dirty="0">
                <a:cs typeface="B Mitra" panose="00000400000000000000" pitchFamily="2" charset="-78"/>
              </a:rPr>
              <a:t> ها</a:t>
            </a: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طراحی </a:t>
            </a:r>
            <a:r>
              <a:rPr lang="fa-IR" sz="2400" dirty="0" err="1">
                <a:cs typeface="B Mitra" panose="00000400000000000000" pitchFamily="2" charset="-78"/>
              </a:rPr>
              <a:t>دیتابیس</a:t>
            </a:r>
            <a:endParaRPr lang="fa-IR" sz="2400" dirty="0">
              <a:cs typeface="B Mitra" panose="00000400000000000000" pitchFamily="2" charset="-78"/>
            </a:endParaRP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طراحی رابط کاربری</a:t>
            </a:r>
            <a:endParaRPr lang="en-US" sz="2400" dirty="0">
              <a:cs typeface="B Mitra" panose="00000400000000000000" pitchFamily="2" charset="-78"/>
            </a:endParaRPr>
          </a:p>
          <a:p>
            <a:pPr algn="r" rtl="1"/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295" y="6096000"/>
            <a:ext cx="457200" cy="365125"/>
          </a:xfrm>
        </p:spPr>
        <p:txBody>
          <a:bodyPr/>
          <a:lstStyle/>
          <a:p>
            <a:pPr algn="l" rtl="1"/>
            <a:fld id="{B5CEABB6-07DC-46E8-9B57-56EC44A396E5}" type="slidenum">
              <a:rPr lang="en-US" smtClean="0">
                <a:solidFill>
                  <a:schemeClr val="tx1"/>
                </a:solidFill>
                <a:cs typeface="B Titr" panose="00000700000000000000" pitchFamily="2" charset="-78"/>
              </a:rPr>
              <a:pPr algn="l" rtl="1"/>
              <a:t>8</a:t>
            </a:fld>
            <a:endParaRPr lang="en-US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136AB4-5596-40F3-8CF5-D9528C92B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665" y="1615440"/>
            <a:ext cx="5570220" cy="524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001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493776"/>
            <a:ext cx="9389288" cy="722376"/>
          </a:xfrm>
        </p:spPr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ساخت </a:t>
            </a:r>
            <a:r>
              <a:rPr lang="en-US" dirty="0">
                <a:cs typeface="B Titr" panose="00000700000000000000" pitchFamily="2" charset="-78"/>
              </a:rPr>
              <a:t>APP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3383280" y="1804416"/>
            <a:ext cx="7116072" cy="17891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rtl="1"/>
            <a:r>
              <a:rPr lang="fa-IR" sz="2600" b="1" dirty="0">
                <a:cs typeface="B Mitra" panose="00000400000000000000" pitchFamily="2" charset="-78"/>
              </a:rPr>
              <a:t>نقش </a:t>
            </a:r>
            <a:r>
              <a:rPr lang="en-US" sz="2600" b="1" dirty="0">
                <a:cs typeface="B Mitra" panose="00000400000000000000" pitchFamily="2" charset="-78"/>
              </a:rPr>
              <a:t>APP</a:t>
            </a:r>
            <a:endParaRPr lang="en-US" dirty="0">
              <a:cs typeface="B Titr" panose="00000700000000000000" pitchFamily="2" charset="-78"/>
            </a:endParaRP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معمولا برای یک کاربرد خاص و عملکرد به پروژه اضافه </a:t>
            </a:r>
            <a:r>
              <a:rPr lang="fa-IR" sz="2400" dirty="0" err="1">
                <a:cs typeface="B Mitra" panose="00000400000000000000" pitchFamily="2" charset="-78"/>
              </a:rPr>
              <a:t>می‌شود</a:t>
            </a:r>
            <a:endParaRPr lang="fa-IR" sz="2400" dirty="0">
              <a:cs typeface="B Mitra" panose="00000400000000000000" pitchFamily="2" charset="-78"/>
            </a:endParaRP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پاسخ دادن به یک درخواست خاص</a:t>
            </a: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نمایش لیست بازیکنان</a:t>
            </a:r>
          </a:p>
          <a:p>
            <a:pPr algn="r" rtl="1"/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295" y="6096000"/>
            <a:ext cx="457200" cy="365125"/>
          </a:xfrm>
        </p:spPr>
        <p:txBody>
          <a:bodyPr/>
          <a:lstStyle/>
          <a:p>
            <a:pPr algn="l" rtl="1"/>
            <a:fld id="{B5CEABB6-07DC-46E8-9B57-56EC44A396E5}" type="slidenum">
              <a:rPr lang="en-US" smtClean="0">
                <a:solidFill>
                  <a:schemeClr val="tx1"/>
                </a:solidFill>
                <a:cs typeface="B Titr" panose="00000700000000000000" pitchFamily="2" charset="-78"/>
              </a:rPr>
              <a:pPr algn="l" rtl="1"/>
              <a:t>9</a:t>
            </a:fld>
            <a:endParaRPr lang="en-US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E33048DF-8A65-47BC-BC27-0557BB8306B4}"/>
              </a:ext>
            </a:extLst>
          </p:cNvPr>
          <p:cNvSpPr txBox="1">
            <a:spLocks/>
          </p:cNvSpPr>
          <p:nvPr/>
        </p:nvSpPr>
        <p:spPr>
          <a:xfrm>
            <a:off x="-114546" y="2316480"/>
            <a:ext cx="6314178" cy="1021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cs typeface="B Titr" panose="00000700000000000000" pitchFamily="2" charset="-78"/>
            </a:endParaRPr>
          </a:p>
          <a:p>
            <a:pPr lvl="1"/>
            <a:r>
              <a:rPr lang="en-US" sz="2400" dirty="0" err="1">
                <a:cs typeface="B Mitra" panose="00000400000000000000" pitchFamily="2" charset="-78"/>
              </a:rPr>
              <a:t>django</a:t>
            </a:r>
            <a:r>
              <a:rPr lang="en-US" sz="2400" dirty="0">
                <a:cs typeface="B Mitra" panose="00000400000000000000" pitchFamily="2" charset="-78"/>
              </a:rPr>
              <a:t>-admin </a:t>
            </a:r>
            <a:r>
              <a:rPr lang="en-US" sz="2400" dirty="0" err="1">
                <a:cs typeface="B Mitra" panose="00000400000000000000" pitchFamily="2" charset="-78"/>
              </a:rPr>
              <a:t>startapp</a:t>
            </a:r>
            <a:r>
              <a:rPr lang="en-US" sz="2400" dirty="0">
                <a:cs typeface="B Mitra" panose="00000400000000000000" pitchFamily="2" charset="-78"/>
              </a:rPr>
              <a:t> members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D63979-41D4-466E-8869-12559E17A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901" y="3554032"/>
            <a:ext cx="4486901" cy="272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051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493776"/>
            <a:ext cx="9389288" cy="722376"/>
          </a:xfrm>
        </p:spPr>
        <p:txBody>
          <a:bodyPr/>
          <a:lstStyle/>
          <a:p>
            <a:pPr algn="r" rtl="1"/>
            <a:r>
              <a:rPr lang="en-US" dirty="0">
                <a:cs typeface="B Titr" panose="00000700000000000000" pitchFamily="2" charset="-78"/>
              </a:rPr>
              <a:t>Views, URLs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096901" y="1804416"/>
            <a:ext cx="8402451" cy="17891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rtl="1"/>
            <a:r>
              <a:rPr lang="en-US" sz="2600" b="1" dirty="0">
                <a:cs typeface="B Mitra" panose="00000400000000000000" pitchFamily="2" charset="-78"/>
              </a:rPr>
              <a:t>Function</a:t>
            </a:r>
            <a:r>
              <a:rPr lang="fa-IR" sz="2600" b="1" dirty="0">
                <a:cs typeface="B Mitra" panose="00000400000000000000" pitchFamily="2" charset="-78"/>
              </a:rPr>
              <a:t>های </a:t>
            </a:r>
            <a:r>
              <a:rPr lang="fa-IR" sz="2600" b="1" dirty="0" err="1">
                <a:cs typeface="B Mitra" panose="00000400000000000000" pitchFamily="2" charset="-78"/>
              </a:rPr>
              <a:t>پایتون</a:t>
            </a:r>
            <a:r>
              <a:rPr lang="fa-IR" sz="2600" b="1" dirty="0">
                <a:cs typeface="B Mitra" panose="00000400000000000000" pitchFamily="2" charset="-78"/>
              </a:rPr>
              <a:t> که درخواست </a:t>
            </a:r>
            <a:r>
              <a:rPr lang="en-US" sz="2600" b="1" dirty="0">
                <a:cs typeface="B Mitra" panose="00000400000000000000" pitchFamily="2" charset="-78"/>
              </a:rPr>
              <a:t>http</a:t>
            </a:r>
            <a:r>
              <a:rPr lang="fa-IR" sz="2600" b="1" dirty="0">
                <a:cs typeface="B Mitra" panose="00000400000000000000" pitchFamily="2" charset="-78"/>
              </a:rPr>
              <a:t> را دریافت </a:t>
            </a:r>
            <a:r>
              <a:rPr lang="fa-IR" sz="2600" b="1" dirty="0" err="1">
                <a:cs typeface="B Mitra" panose="00000400000000000000" pitchFamily="2" charset="-78"/>
              </a:rPr>
              <a:t>می‌کنند</a:t>
            </a:r>
            <a:r>
              <a:rPr lang="fa-IR" sz="2600" b="1" dirty="0">
                <a:cs typeface="B Mitra" panose="00000400000000000000" pitchFamily="2" charset="-78"/>
              </a:rPr>
              <a:t> و پاسخ میدهند</a:t>
            </a:r>
            <a:endParaRPr lang="en-US" dirty="0">
              <a:cs typeface="B Titr" panose="00000700000000000000" pitchFamily="2" charset="-78"/>
            </a:endParaRP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محل قرارگیری پیاده سازی این بخش در فایل </a:t>
            </a:r>
            <a:r>
              <a:rPr lang="en-US" sz="2400" dirty="0">
                <a:cs typeface="B Mitra" panose="00000400000000000000" pitchFamily="2" charset="-78"/>
              </a:rPr>
              <a:t>views.py</a:t>
            </a:r>
            <a:r>
              <a:rPr lang="fa-IR" sz="2400" dirty="0">
                <a:cs typeface="B Mitra" panose="00000400000000000000" pitchFamily="2" charset="-78"/>
              </a:rPr>
              <a:t> در </a:t>
            </a:r>
            <a:r>
              <a:rPr lang="fa-IR" sz="2400" dirty="0" err="1">
                <a:cs typeface="B Mitra" panose="00000400000000000000" pitchFamily="2" charset="-78"/>
              </a:rPr>
              <a:t>فولدر</a:t>
            </a:r>
            <a:r>
              <a:rPr lang="fa-IR" sz="2400" dirty="0">
                <a:cs typeface="B Mitra" panose="00000400000000000000" pitchFamily="2" charset="-78"/>
              </a:rPr>
              <a:t> </a:t>
            </a:r>
            <a:r>
              <a:rPr lang="en-US" sz="2400" dirty="0">
                <a:cs typeface="B Mitra" panose="00000400000000000000" pitchFamily="2" charset="-78"/>
              </a:rPr>
              <a:t>app</a:t>
            </a:r>
            <a:endParaRPr lang="fa-IR" sz="2400" dirty="0">
              <a:cs typeface="B Mitra" panose="00000400000000000000" pitchFamily="2" charset="-78"/>
            </a:endParaRP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در فایل </a:t>
            </a:r>
            <a:r>
              <a:rPr lang="en-US" sz="2400" dirty="0" err="1">
                <a:cs typeface="B Mitra" panose="00000400000000000000" pitchFamily="2" charset="-78"/>
              </a:rPr>
              <a:t>url</a:t>
            </a:r>
            <a:r>
              <a:rPr lang="fa-IR" sz="2400" dirty="0">
                <a:cs typeface="B Mitra" panose="00000400000000000000" pitchFamily="2" charset="-78"/>
              </a:rPr>
              <a:t> مشخص </a:t>
            </a:r>
            <a:r>
              <a:rPr lang="fa-IR" sz="2400" dirty="0" err="1">
                <a:cs typeface="B Mitra" panose="00000400000000000000" pitchFamily="2" charset="-78"/>
              </a:rPr>
              <a:t>می‌شود</a:t>
            </a:r>
            <a:r>
              <a:rPr lang="fa-IR" sz="2400" dirty="0">
                <a:cs typeface="B Mitra" panose="00000400000000000000" pitchFamily="2" charset="-78"/>
              </a:rPr>
              <a:t> که هر درخواست توسط چه </a:t>
            </a:r>
            <a:r>
              <a:rPr lang="fa-IR" sz="2400" dirty="0" err="1">
                <a:cs typeface="B Mitra" panose="00000400000000000000" pitchFamily="2" charset="-78"/>
              </a:rPr>
              <a:t>فانکشنی</a:t>
            </a:r>
            <a:r>
              <a:rPr lang="fa-IR" sz="2400" dirty="0">
                <a:cs typeface="B Mitra" panose="00000400000000000000" pitchFamily="2" charset="-78"/>
              </a:rPr>
              <a:t> پاسخ داده شود</a:t>
            </a:r>
          </a:p>
          <a:p>
            <a:pPr algn="r" rtl="1"/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295" y="6096000"/>
            <a:ext cx="457200" cy="365125"/>
          </a:xfrm>
        </p:spPr>
        <p:txBody>
          <a:bodyPr/>
          <a:lstStyle/>
          <a:p>
            <a:pPr algn="l" rtl="1"/>
            <a:fld id="{B5CEABB6-07DC-46E8-9B57-56EC44A396E5}" type="slidenum">
              <a:rPr lang="en-US" smtClean="0">
                <a:solidFill>
                  <a:schemeClr val="tx1"/>
                </a:solidFill>
                <a:cs typeface="B Titr" panose="00000700000000000000" pitchFamily="2" charset="-78"/>
              </a:rPr>
              <a:pPr algn="l" rtl="1"/>
              <a:t>10</a:t>
            </a:fld>
            <a:endParaRPr lang="en-US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73425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493776"/>
            <a:ext cx="9389288" cy="722376"/>
          </a:xfrm>
        </p:spPr>
        <p:txBody>
          <a:bodyPr/>
          <a:lstStyle/>
          <a:p>
            <a:pPr algn="r" rtl="1"/>
            <a:r>
              <a:rPr lang="en-US" dirty="0">
                <a:cs typeface="B Titr" panose="00000700000000000000" pitchFamily="2" charset="-78"/>
              </a:rPr>
              <a:t>templates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096901" y="1804416"/>
            <a:ext cx="8402451" cy="17891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rtl="1"/>
            <a:r>
              <a:rPr lang="fa-IR" sz="2600" b="1" dirty="0">
                <a:cs typeface="B Mitra" panose="00000400000000000000" pitchFamily="2" charset="-78"/>
              </a:rPr>
              <a:t>در </a:t>
            </a:r>
            <a:r>
              <a:rPr lang="fa-IR" sz="2600" b="1" dirty="0" err="1">
                <a:cs typeface="B Mitra" panose="00000400000000000000" pitchFamily="2" charset="-78"/>
              </a:rPr>
              <a:t>فولدر</a:t>
            </a:r>
            <a:r>
              <a:rPr lang="fa-IR" sz="2600" b="1" dirty="0">
                <a:cs typeface="B Mitra" panose="00000400000000000000" pitchFamily="2" charset="-78"/>
              </a:rPr>
              <a:t> </a:t>
            </a:r>
            <a:r>
              <a:rPr lang="en-US" sz="2600" b="1" dirty="0">
                <a:cs typeface="B Mitra" panose="00000400000000000000" pitchFamily="2" charset="-78"/>
              </a:rPr>
              <a:t>templates</a:t>
            </a:r>
            <a:r>
              <a:rPr lang="fa-IR" sz="2600" b="1" dirty="0">
                <a:cs typeface="B Mitra" panose="00000400000000000000" pitchFamily="2" charset="-78"/>
              </a:rPr>
              <a:t> فایل های </a:t>
            </a:r>
            <a:r>
              <a:rPr lang="en-US" sz="2600" b="1" dirty="0">
                <a:cs typeface="B Mitra" panose="00000400000000000000" pitchFamily="2" charset="-78"/>
              </a:rPr>
              <a:t>html, </a:t>
            </a:r>
            <a:r>
              <a:rPr lang="en-US" sz="2600" b="1" dirty="0" err="1">
                <a:cs typeface="B Mitra" panose="00000400000000000000" pitchFamily="2" charset="-78"/>
              </a:rPr>
              <a:t>css</a:t>
            </a:r>
            <a:r>
              <a:rPr lang="fa-IR" sz="2600" b="1" dirty="0">
                <a:cs typeface="B Mitra" panose="00000400000000000000" pitchFamily="2" charset="-78"/>
              </a:rPr>
              <a:t> برای طراحی رابط کاربری</a:t>
            </a:r>
          </a:p>
          <a:p>
            <a:pPr algn="r" rtl="1"/>
            <a:r>
              <a:rPr lang="fa-IR" sz="2600" b="1" dirty="0">
                <a:cs typeface="B Mitra" panose="00000400000000000000" pitchFamily="2" charset="-78"/>
              </a:rPr>
              <a:t> </a:t>
            </a:r>
            <a:r>
              <a:rPr lang="fa-IR" sz="2600" b="1" dirty="0" err="1">
                <a:cs typeface="B Mitra" panose="00000400000000000000" pitchFamily="2" charset="-78"/>
              </a:rPr>
              <a:t>گرافیکی</a:t>
            </a:r>
            <a:r>
              <a:rPr lang="fa-IR" sz="2600" b="1" dirty="0">
                <a:cs typeface="B Mitra" panose="00000400000000000000" pitchFamily="2" charset="-78"/>
              </a:rPr>
              <a:t> </a:t>
            </a:r>
            <a:r>
              <a:rPr lang="fa-IR" sz="2600" b="1" dirty="0" err="1">
                <a:cs typeface="B Mitra" panose="00000400000000000000" pitchFamily="2" charset="-78"/>
              </a:rPr>
              <a:t>قرارمیگیرند</a:t>
            </a:r>
            <a:r>
              <a:rPr lang="fa-IR" sz="2600" b="1" dirty="0">
                <a:cs typeface="B Mitra" panose="00000400000000000000" pitchFamily="2" charset="-78"/>
              </a:rPr>
              <a:t>.</a:t>
            </a:r>
            <a:endParaRPr lang="en-US" dirty="0">
              <a:cs typeface="B Titr" panose="00000700000000000000" pitchFamily="2" charset="-78"/>
            </a:endParaRP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محل قرارگیری پیاده سازی این بخش در فایل </a:t>
            </a:r>
            <a:r>
              <a:rPr lang="en-US" sz="2400" dirty="0">
                <a:cs typeface="B Mitra" panose="00000400000000000000" pitchFamily="2" charset="-78"/>
              </a:rPr>
              <a:t>views.py</a:t>
            </a:r>
            <a:r>
              <a:rPr lang="fa-IR" sz="2400" dirty="0">
                <a:cs typeface="B Mitra" panose="00000400000000000000" pitchFamily="2" charset="-78"/>
              </a:rPr>
              <a:t> در </a:t>
            </a:r>
            <a:r>
              <a:rPr lang="fa-IR" sz="2400" dirty="0" err="1">
                <a:cs typeface="B Mitra" panose="00000400000000000000" pitchFamily="2" charset="-78"/>
              </a:rPr>
              <a:t>فولدر</a:t>
            </a:r>
            <a:r>
              <a:rPr lang="fa-IR" sz="2400" dirty="0">
                <a:cs typeface="B Mitra" panose="00000400000000000000" pitchFamily="2" charset="-78"/>
              </a:rPr>
              <a:t> </a:t>
            </a:r>
            <a:r>
              <a:rPr lang="en-US" sz="2400" dirty="0">
                <a:cs typeface="B Mitra" panose="00000400000000000000" pitchFamily="2" charset="-78"/>
              </a:rPr>
              <a:t>app</a:t>
            </a:r>
            <a:endParaRPr lang="fa-IR" sz="2400" dirty="0">
              <a:cs typeface="B Mitra" panose="00000400000000000000" pitchFamily="2" charset="-78"/>
            </a:endParaRP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در فایل </a:t>
            </a:r>
            <a:r>
              <a:rPr lang="en-US" sz="2400" dirty="0" err="1">
                <a:cs typeface="B Mitra" panose="00000400000000000000" pitchFamily="2" charset="-78"/>
              </a:rPr>
              <a:t>url</a:t>
            </a:r>
            <a:r>
              <a:rPr lang="fa-IR" sz="2400" dirty="0">
                <a:cs typeface="B Mitra" panose="00000400000000000000" pitchFamily="2" charset="-78"/>
              </a:rPr>
              <a:t> مشخص </a:t>
            </a:r>
            <a:r>
              <a:rPr lang="fa-IR" sz="2400" dirty="0" err="1">
                <a:cs typeface="B Mitra" panose="00000400000000000000" pitchFamily="2" charset="-78"/>
              </a:rPr>
              <a:t>می‌شود</a:t>
            </a:r>
            <a:r>
              <a:rPr lang="fa-IR" sz="2400" dirty="0">
                <a:cs typeface="B Mitra" panose="00000400000000000000" pitchFamily="2" charset="-78"/>
              </a:rPr>
              <a:t> که هر درخواست توسط چه </a:t>
            </a:r>
            <a:r>
              <a:rPr lang="fa-IR" sz="2400" dirty="0" err="1">
                <a:cs typeface="B Mitra" panose="00000400000000000000" pitchFamily="2" charset="-78"/>
              </a:rPr>
              <a:t>فانکشنی</a:t>
            </a:r>
            <a:r>
              <a:rPr lang="fa-IR" sz="2400" dirty="0">
                <a:cs typeface="B Mitra" panose="00000400000000000000" pitchFamily="2" charset="-78"/>
              </a:rPr>
              <a:t> پاسخ داده شود</a:t>
            </a:r>
          </a:p>
          <a:p>
            <a:pPr algn="r" rtl="1"/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295" y="6096000"/>
            <a:ext cx="457200" cy="365125"/>
          </a:xfrm>
        </p:spPr>
        <p:txBody>
          <a:bodyPr/>
          <a:lstStyle/>
          <a:p>
            <a:pPr algn="l" rtl="1"/>
            <a:fld id="{B5CEABB6-07DC-46E8-9B57-56EC44A396E5}" type="slidenum">
              <a:rPr lang="en-US" smtClean="0">
                <a:solidFill>
                  <a:schemeClr val="tx1"/>
                </a:solidFill>
                <a:cs typeface="B Titr" panose="00000700000000000000" pitchFamily="2" charset="-78"/>
              </a:rPr>
              <a:pPr algn="l" rtl="1"/>
              <a:t>11</a:t>
            </a:fld>
            <a:endParaRPr lang="en-US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65184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493776"/>
            <a:ext cx="9389288" cy="722376"/>
          </a:xfrm>
        </p:spPr>
        <p:txBody>
          <a:bodyPr/>
          <a:lstStyle/>
          <a:p>
            <a:pPr algn="r" rtl="1"/>
            <a:r>
              <a:rPr lang="en-US" dirty="0">
                <a:cs typeface="B Titr" panose="00000700000000000000" pitchFamily="2" charset="-78"/>
              </a:rPr>
              <a:t>Models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096901" y="1804416"/>
            <a:ext cx="8402451" cy="37825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 rtl="1"/>
            <a:r>
              <a:rPr lang="fa-IR" sz="2600" b="1" dirty="0">
                <a:cs typeface="B Mitra" panose="00000400000000000000" pitchFamily="2" charset="-78"/>
              </a:rPr>
              <a:t>طراحی جدول های </a:t>
            </a:r>
            <a:r>
              <a:rPr lang="fa-IR" sz="2600" b="1" dirty="0" err="1">
                <a:cs typeface="B Mitra" panose="00000400000000000000" pitchFamily="2" charset="-78"/>
              </a:rPr>
              <a:t>دیتابیس</a:t>
            </a:r>
            <a:r>
              <a:rPr lang="fa-IR" sz="2600" b="1" dirty="0">
                <a:cs typeface="B Mitra" panose="00000400000000000000" pitchFamily="2" charset="-78"/>
              </a:rPr>
              <a:t> برای پروژه</a:t>
            </a:r>
            <a:endParaRPr lang="en-US" dirty="0">
              <a:cs typeface="B Titr" panose="00000700000000000000" pitchFamily="2" charset="-78"/>
            </a:endParaRP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ساخت جدول اطلاعات </a:t>
            </a:r>
            <a:r>
              <a:rPr lang="en-US" sz="2400" dirty="0">
                <a:cs typeface="B Mitra" panose="00000400000000000000" pitchFamily="2" charset="-78"/>
              </a:rPr>
              <a:t>members</a:t>
            </a:r>
            <a:endParaRPr lang="fa-IR" sz="2400" dirty="0">
              <a:cs typeface="B Mitra" panose="00000400000000000000" pitchFamily="2" charset="-78"/>
            </a:endParaRP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افزودن عضو</a:t>
            </a:r>
          </a:p>
          <a:p>
            <a:pPr lvl="1" algn="r" rtl="1"/>
            <a:r>
              <a:rPr lang="fa-IR" sz="2400" dirty="0">
                <a:cs typeface="B Mitra" panose="00000400000000000000" pitchFamily="2" charset="-78"/>
              </a:rPr>
              <a:t>حذف</a:t>
            </a:r>
          </a:p>
          <a:p>
            <a:pPr lvl="1" algn="r" rtl="1"/>
            <a:r>
              <a:rPr lang="fa-IR" sz="2400" dirty="0" err="1">
                <a:cs typeface="B Mitra" panose="00000400000000000000" pitchFamily="2" charset="-78"/>
              </a:rPr>
              <a:t>بروزرسانی</a:t>
            </a:r>
            <a:endParaRPr lang="fa-IR" sz="2400" dirty="0">
              <a:cs typeface="B Mitra" panose="00000400000000000000" pitchFamily="2" charset="-78"/>
            </a:endParaRPr>
          </a:p>
          <a:p>
            <a:pPr algn="r" rtl="1"/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295" y="6096000"/>
            <a:ext cx="457200" cy="365125"/>
          </a:xfrm>
        </p:spPr>
        <p:txBody>
          <a:bodyPr/>
          <a:lstStyle/>
          <a:p>
            <a:pPr algn="l" rtl="1"/>
            <a:fld id="{B5CEABB6-07DC-46E8-9B57-56EC44A396E5}" type="slidenum">
              <a:rPr lang="en-US" smtClean="0">
                <a:solidFill>
                  <a:schemeClr val="tx1"/>
                </a:solidFill>
                <a:cs typeface="B Titr" panose="00000700000000000000" pitchFamily="2" charset="-78"/>
              </a:rPr>
              <a:pPr algn="l" rtl="1"/>
              <a:t>12</a:t>
            </a:fld>
            <a:endParaRPr lang="en-US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0793170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9B7A9F-83D5-4264-91C0-B309A9EDBFB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1950151-0FE0-482F-ADBD-EE52BFC46C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AD375C2-2973-4C8B-9800-5B5271D300B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374</Words>
  <Application>Microsoft Office PowerPoint</Application>
  <PresentationFormat>Widescreen</PresentationFormat>
  <Paragraphs>100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Avenir Next LT Pro</vt:lpstr>
      <vt:lpstr>B Mitra</vt:lpstr>
      <vt:lpstr>B Titr</vt:lpstr>
      <vt:lpstr>Calibri</vt:lpstr>
      <vt:lpstr>Custom</vt:lpstr>
      <vt:lpstr>آموزش DJango</vt:lpstr>
      <vt:lpstr>جنگو چیست​</vt:lpstr>
      <vt:lpstr>معماری Django</vt:lpstr>
      <vt:lpstr>LETS go</vt:lpstr>
      <vt:lpstr>پیش نیازها</vt:lpstr>
      <vt:lpstr>ساخت پروژه</vt:lpstr>
      <vt:lpstr>پروژه عملی باشگاه تنیس</vt:lpstr>
      <vt:lpstr>باشگاه تنیس</vt:lpstr>
      <vt:lpstr>ساخت APP</vt:lpstr>
      <vt:lpstr>Views, URLs</vt:lpstr>
      <vt:lpstr>templates</vt:lpstr>
      <vt:lpstr>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2023-12-19T13:11:42Z</dcterms:created>
  <dcterms:modified xsi:type="dcterms:W3CDTF">2025-05-02T15:19:41Z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